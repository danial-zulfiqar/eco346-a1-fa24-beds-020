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Introduce yourself. My registration number ends in a number that gives variant 4: KP rural. I use the PSLM 2019-20 person file joined to the household file by hhid, keep 3,396 earners aged 15-64, and weight everything by hhweight because the survey deliberately oversamples small districts. Figures are drawn in R; Python reproduces the band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100 seconds) Left: R's default, ggplot(data, aes(x, y)) + geom_point(). Right: my redesign. Three changes. One: a log vertical axis, because earnings are right-skewed and on a linear axis most people are squashed at the bottom. Two: transparency 0.15 and horizontal jitter of at most 0.4 years, because ages are whole numbers and thousands of points overplot into columns. Three: weighted means for each five-year band, joined by a line and annotated, because position on a common scale is the most accurate visual channel and the conditional mean shows the age pattern. The default does show one thing the redesign hides: the single largest earner, Rs 12,000,000, far above everyone, which shows how extreme the right tail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Weighted histogram on a log scale with bins 0.1 wide. The weighted median is Rs 187,200; the unweighted median is Rs 180,000. The 10th percentile is Rs 70,000 and the 90th is Rs 456,000, a ratio of 6.51. 13 earners fall outside Rs 10,000 to Rs 10,000,000 and are excluded from the histogram only. Percentiles use the cumulative-weight definition, not R's quantile().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The finding I consider most important: mean earnings rise from Rs 141,017 at 15-19 to Rs 352,522 at 50-54, but the gap between the 90th and 10th percentile (6.51x) is bigger than the age gain (2.5x), so differences between people of the same age matter more than age itself. Limitation: this is one cross-section, so age is mixed with cohort effects and selection into work. Python reproduces every band mean to the rupee; the 25-29 band is Rs 245,584 in both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22222"/>
          </a:solidFill>
          <a:ln w="12700">
            <a:solidFill>
              <a:srgbClr val="B22222"/>
            </a:solidFill>
            <a:prstDash val="solid"/>
          </a:ln>
        </p:spPr>
      </p:sp>
      <p:sp>
        <p:nvSpPr>
          <p:cNvPr id="3" name="Text 1"/>
          <p:cNvSpPr txBox="1"/>
          <p:nvPr/>
        </p:nvSpPr>
        <p:spPr>
          <a:xfrm>
            <a:off x="548640" y="548640"/>
            <a:ext cx="8046720" cy="822960"/>
          </a:xfrm>
          <a:prstGeom prst="rect">
            <a:avLst/>
          </a:prstGeom>
          <a:noFill/>
          <a:ln/>
        </p:spPr>
        <p:txBody>
          <a:bodyPr wrap="square" lIns="0" tIns="0" rIns="0" bIns="0" rtlCol="0" anchor="ctr"/>
          <a:lstStyle/>
          <a:p>
            <a:pPr indent="0" marL="0">
              <a:buNone/>
            </a:pPr>
            <a:r>
              <a:rPr lang="en-US" sz="3600" b="1" dirty="0">
                <a:solidFill>
                  <a:srgbClr val="1F2937"/>
                </a:solidFill>
                <a:latin typeface="Calibri" pitchFamily="34" charset="0"/>
                <a:ea typeface="Calibri" pitchFamily="34" charset="-122"/>
                <a:cs typeface="Calibri" pitchFamily="34" charset="-120"/>
              </a:rPr>
              <a:t>Who earns what in KP rural?</a:t>
            </a:r>
            <a:endParaRPr lang="en-US" sz="3600" dirty="0"/>
          </a:p>
        </p:txBody>
      </p:sp>
      <p:sp>
        <p:nvSpPr>
          <p:cNvPr id="4" name="Text 2"/>
          <p:cNvSpPr txBox="1"/>
          <p:nvPr/>
        </p:nvSpPr>
        <p:spPr>
          <a:xfrm>
            <a:off x="548640" y="1371600"/>
            <a:ext cx="8046720" cy="45720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The distribution of annual earnings and how it changes with age (PSLM 2019-20)</a:t>
            </a:r>
            <a:endParaRPr lang="en-US" sz="1600" dirty="0"/>
          </a:p>
        </p:txBody>
      </p:sp>
      <p:sp>
        <p:nvSpPr>
          <p:cNvPr id="5" name="Shape 3"/>
          <p:cNvSpPr/>
          <p:nvPr/>
        </p:nvSpPr>
        <p:spPr>
          <a:xfrm>
            <a:off x="548640" y="2148840"/>
            <a:ext cx="8046720" cy="640080"/>
          </a:xfrm>
          <a:prstGeom prst="rect">
            <a:avLst/>
          </a:prstGeom>
          <a:solidFill>
            <a:srgbClr val="F3F4F6"/>
          </a:solidFill>
          <a:ln w="12700">
            <a:solidFill>
              <a:srgbClr val="F3F4F6"/>
            </a:solidFill>
            <a:prstDash val="solid"/>
          </a:ln>
        </p:spPr>
      </p:sp>
      <p:sp>
        <p:nvSpPr>
          <p:cNvPr id="6" name="Text 4"/>
          <p:cNvSpPr txBox="1"/>
          <p:nvPr/>
        </p:nvSpPr>
        <p:spPr>
          <a:xfrm>
            <a:off x="731520" y="2148840"/>
            <a:ext cx="1463040" cy="640080"/>
          </a:xfrm>
          <a:prstGeom prst="rect">
            <a:avLst/>
          </a:prstGeom>
          <a:noFill/>
          <a:ln/>
        </p:spPr>
        <p:txBody>
          <a:bodyPr wrap="square" lIns="0" tIns="0" rIns="0" bIns="0" rtlCol="0" anchor="ctr"/>
          <a:lstStyle/>
          <a:p>
            <a:pPr indent="0" marL="0">
              <a:buNone/>
            </a:pPr>
            <a:r>
              <a:rPr lang="en-US" sz="1400" b="1" dirty="0">
                <a:solidFill>
                  <a:srgbClr val="B22222"/>
                </a:solidFill>
                <a:latin typeface="Calibri" pitchFamily="34" charset="0"/>
                <a:ea typeface="Calibri" pitchFamily="34" charset="-122"/>
                <a:cs typeface="Calibri" pitchFamily="34" charset="-120"/>
              </a:rPr>
              <a:t>My variant</a:t>
            </a:r>
            <a:endParaRPr lang="en-US" sz="1400" dirty="0"/>
          </a:p>
        </p:txBody>
      </p:sp>
      <p:sp>
        <p:nvSpPr>
          <p:cNvPr id="7" name="Text 5"/>
          <p:cNvSpPr txBox="1"/>
          <p:nvPr/>
        </p:nvSpPr>
        <p:spPr>
          <a:xfrm>
            <a:off x="2194560" y="2148840"/>
            <a:ext cx="6217920" cy="6400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Reg. no. last digits 20 = 2 x 8 + 4  -&gt;  variant 4: KP rural</a:t>
            </a:r>
            <a:endParaRPr lang="en-US" sz="1400" dirty="0"/>
          </a:p>
        </p:txBody>
      </p:sp>
      <p:sp>
        <p:nvSpPr>
          <p:cNvPr id="8" name="Shape 6"/>
          <p:cNvSpPr/>
          <p:nvPr/>
        </p:nvSpPr>
        <p:spPr>
          <a:xfrm>
            <a:off x="548640" y="2898648"/>
            <a:ext cx="8046720" cy="640080"/>
          </a:xfrm>
          <a:prstGeom prst="rect">
            <a:avLst/>
          </a:prstGeom>
          <a:solidFill>
            <a:srgbClr val="F3F4F6"/>
          </a:solidFill>
          <a:ln w="12700">
            <a:solidFill>
              <a:srgbClr val="F3F4F6"/>
            </a:solidFill>
            <a:prstDash val="solid"/>
          </a:ln>
        </p:spPr>
      </p:sp>
      <p:sp>
        <p:nvSpPr>
          <p:cNvPr id="9" name="Text 7"/>
          <p:cNvSpPr txBox="1"/>
          <p:nvPr/>
        </p:nvSpPr>
        <p:spPr>
          <a:xfrm>
            <a:off x="731520" y="2898648"/>
            <a:ext cx="1463040" cy="640080"/>
          </a:xfrm>
          <a:prstGeom prst="rect">
            <a:avLst/>
          </a:prstGeom>
          <a:noFill/>
          <a:ln/>
        </p:spPr>
        <p:txBody>
          <a:bodyPr wrap="square" lIns="0" tIns="0" rIns="0" bIns="0" rtlCol="0" anchor="ctr"/>
          <a:lstStyle/>
          <a:p>
            <a:pPr indent="0" marL="0">
              <a:buNone/>
            </a:pPr>
            <a:r>
              <a:rPr lang="en-US" sz="1400" b="1" dirty="0">
                <a:solidFill>
                  <a:srgbClr val="B22222"/>
                </a:solidFill>
                <a:latin typeface="Calibri" pitchFamily="34" charset="0"/>
                <a:ea typeface="Calibri" pitchFamily="34" charset="-122"/>
                <a:cs typeface="Calibri" pitchFamily="34" charset="-120"/>
              </a:rPr>
              <a:t>My sample</a:t>
            </a:r>
            <a:endParaRPr lang="en-US" sz="1400" dirty="0"/>
          </a:p>
        </p:txBody>
      </p:sp>
      <p:sp>
        <p:nvSpPr>
          <p:cNvPr id="10" name="Text 8"/>
          <p:cNvSpPr txBox="1"/>
          <p:nvPr/>
        </p:nvSpPr>
        <p:spPr>
          <a:xfrm>
            <a:off x="2194560" y="2898648"/>
            <a:ext cx="6217920" cy="6400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3,396 earners aged 15-64 (earn_annual &gt; 0), every statistic weighted by hhweight</a:t>
            </a:r>
            <a:endParaRPr lang="en-US" sz="1400" dirty="0"/>
          </a:p>
        </p:txBody>
      </p:sp>
      <p:sp>
        <p:nvSpPr>
          <p:cNvPr id="11" name="Shape 9"/>
          <p:cNvSpPr/>
          <p:nvPr/>
        </p:nvSpPr>
        <p:spPr>
          <a:xfrm>
            <a:off x="548640" y="3648456"/>
            <a:ext cx="8046720" cy="640080"/>
          </a:xfrm>
          <a:prstGeom prst="rect">
            <a:avLst/>
          </a:prstGeom>
          <a:solidFill>
            <a:srgbClr val="F3F4F6"/>
          </a:solidFill>
          <a:ln w="12700">
            <a:solidFill>
              <a:srgbClr val="F3F4F6"/>
            </a:solidFill>
            <a:prstDash val="solid"/>
          </a:ln>
        </p:spPr>
      </p:sp>
      <p:sp>
        <p:nvSpPr>
          <p:cNvPr id="12" name="Text 10"/>
          <p:cNvSpPr txBox="1"/>
          <p:nvPr/>
        </p:nvSpPr>
        <p:spPr>
          <a:xfrm>
            <a:off x="731520" y="3648456"/>
            <a:ext cx="1463040" cy="640080"/>
          </a:xfrm>
          <a:prstGeom prst="rect">
            <a:avLst/>
          </a:prstGeom>
          <a:noFill/>
          <a:ln/>
        </p:spPr>
        <p:txBody>
          <a:bodyPr wrap="square" lIns="0" tIns="0" rIns="0" bIns="0" rtlCol="0" anchor="ctr"/>
          <a:lstStyle/>
          <a:p>
            <a:pPr indent="0" marL="0">
              <a:buNone/>
            </a:pPr>
            <a:r>
              <a:rPr lang="en-US" sz="1400" b="1" dirty="0">
                <a:solidFill>
                  <a:srgbClr val="B22222"/>
                </a:solidFill>
                <a:latin typeface="Calibri" pitchFamily="34" charset="0"/>
                <a:ea typeface="Calibri" pitchFamily="34" charset="-122"/>
                <a:cs typeface="Calibri" pitchFamily="34" charset="-120"/>
              </a:rPr>
              <a:t>My tools</a:t>
            </a:r>
            <a:endParaRPr lang="en-US" sz="1400" dirty="0"/>
          </a:p>
        </p:txBody>
      </p:sp>
      <p:sp>
        <p:nvSpPr>
          <p:cNvPr id="13" name="Text 11"/>
          <p:cNvSpPr txBox="1"/>
          <p:nvPr/>
        </p:nvSpPr>
        <p:spPr>
          <a:xfrm>
            <a:off x="2194560" y="3648456"/>
            <a:ext cx="6217920" cy="6400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 (ggplot2, svglite) for the figures; Python (pandas, matplotlib) to reproduce the band means</a:t>
            </a:r>
            <a:endParaRPr lang="en-US" sz="1400" dirty="0"/>
          </a:p>
        </p:txBody>
      </p:sp>
      <p:sp>
        <p:nvSpPr>
          <p:cNvPr id="14" name="Text 12"/>
          <p:cNvSpPr txBox="1"/>
          <p:nvPr/>
        </p:nvSpPr>
        <p:spPr>
          <a:xfrm>
            <a:off x="548640" y="4526280"/>
            <a:ext cx="804672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Danial  |  FA24-BEDS-020  |  ECO346 Section 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22222"/>
          </a:solidFill>
          <a:ln w="12700">
            <a:solidFill>
              <a:srgbClr val="B22222"/>
            </a:solidFill>
            <a:prstDash val="solid"/>
          </a:ln>
        </p:spPr>
      </p:sp>
      <p:sp>
        <p:nvSpPr>
          <p:cNvPr id="3" name="Text 1"/>
          <p:cNvSpPr txBox="1"/>
          <p:nvPr/>
        </p:nvSpPr>
        <p:spPr>
          <a:xfrm>
            <a:off x="457200" y="228600"/>
            <a:ext cx="8229600" cy="731520"/>
          </a:xfrm>
          <a:prstGeom prst="rect">
            <a:avLst/>
          </a:prstGeom>
          <a:noFill/>
          <a:ln/>
        </p:spPr>
        <p:txBody>
          <a:bodyPr wrap="square" lIns="0" tIns="0" rIns="0" bIns="0"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Makeover: from an unreadable cloud to an age profile</a:t>
            </a:r>
            <a:endParaRPr lang="en-US" sz="2200" dirty="0"/>
          </a:p>
        </p:txBody>
      </p:sp>
      <p:sp>
        <p:nvSpPr>
          <p:cNvPr id="4" name="Text 2"/>
          <p:cNvSpPr txBox="1"/>
          <p:nvPr/>
        </p:nvSpPr>
        <p:spPr>
          <a:xfrm>
            <a:off x="457200" y="4828032"/>
            <a:ext cx="758952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ECO346 Assignment 1 | FA24-BEDS-020 | Source: PSLM 2019-20, weighted by hhweight</a:t>
            </a:r>
            <a:endParaRPr lang="en-US" sz="900" dirty="0"/>
          </a:p>
        </p:txBody>
      </p:sp>
      <p:sp>
        <p:nvSpPr>
          <p:cNvPr id="5" name="Text 3"/>
          <p:cNvSpPr txBox="1"/>
          <p:nvPr/>
        </p:nvSpPr>
        <p:spPr>
          <a:xfrm>
            <a:off x="832104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Text 4"/>
          <p:cNvSpPr txBox="1"/>
          <p:nvPr/>
        </p:nvSpPr>
        <p:spPr>
          <a:xfrm>
            <a:off x="457200" y="1005840"/>
            <a:ext cx="3108960" cy="274320"/>
          </a:xfrm>
          <a:prstGeom prst="rect">
            <a:avLst/>
          </a:prstGeom>
          <a:noFill/>
          <a:ln/>
        </p:spPr>
        <p:txBody>
          <a:bodyPr wrap="square" lIns="0" tIns="0" rIns="0" bIns="0" rtlCol="0" anchor="ctr"/>
          <a:lstStyle/>
          <a:p>
            <a:pPr indent="0" marL="0">
              <a:buNone/>
            </a:pPr>
            <a:r>
              <a:rPr lang="en-US" sz="1400" b="1" dirty="0">
                <a:solidFill>
                  <a:srgbClr val="6B7280"/>
                </a:solidFill>
                <a:latin typeface="Calibri" pitchFamily="34" charset="0"/>
                <a:ea typeface="Calibri" pitchFamily="34" charset="-122"/>
                <a:cs typeface="Calibri" pitchFamily="34" charset="-120"/>
              </a:rPr>
              <a:t>R default</a:t>
            </a:r>
            <a:endParaRPr lang="en-US" sz="1400" dirty="0"/>
          </a:p>
        </p:txBody>
      </p:sp>
      <p:pic>
        <p:nvPicPr>
          <p:cNvPr id="7" name="Image 0" descr="R default scatterplot of earnings against ag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1280160"/>
            <a:ext cx="2743200" cy="2743200"/>
          </a:xfrm>
          <a:prstGeom prst="rect">
            <a:avLst/>
          </a:prstGeom>
        </p:spPr>
      </p:pic>
      <p:sp>
        <p:nvSpPr>
          <p:cNvPr id="8" name="Text 5"/>
          <p:cNvSpPr txBox="1"/>
          <p:nvPr/>
        </p:nvSpPr>
        <p:spPr>
          <a:xfrm>
            <a:off x="3566160" y="1005840"/>
            <a:ext cx="3108960" cy="274320"/>
          </a:xfrm>
          <a:prstGeom prst="rect">
            <a:avLst/>
          </a:prstGeom>
          <a:noFill/>
          <a:ln/>
        </p:spPr>
        <p:txBody>
          <a:bodyPr wrap="square" lIns="0" tIns="0" rIns="0" bIns="0" rtlCol="0" anchor="ctr"/>
          <a:lstStyle/>
          <a:p>
            <a:pPr indent="0" marL="0">
              <a:buNone/>
            </a:pPr>
            <a:r>
              <a:rPr lang="en-US" sz="1400" b="1" dirty="0">
                <a:solidFill>
                  <a:srgbClr val="B22222"/>
                </a:solidFill>
                <a:latin typeface="Calibri" pitchFamily="34" charset="0"/>
                <a:ea typeface="Calibri" pitchFamily="34" charset="-122"/>
                <a:cs typeface="Calibri" pitchFamily="34" charset="-120"/>
              </a:rPr>
              <a:t>Redesign</a:t>
            </a:r>
            <a:endParaRPr lang="en-US" sz="1400" dirty="0"/>
          </a:p>
        </p:txBody>
      </p:sp>
      <p:pic>
        <p:nvPicPr>
          <p:cNvPr id="9" name="Image 1" descr="Redesigned figure: log axis, jittered transparent points, weighted band means">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66160" y="1280160"/>
            <a:ext cx="5120640" cy="3129280"/>
          </a:xfrm>
          <a:prstGeom prst="rect">
            <a:avLst/>
          </a:prstGeom>
        </p:spPr>
      </p:pic>
      <p:sp>
        <p:nvSpPr>
          <p:cNvPr id="10" name="Text 6"/>
          <p:cNvSpPr txBox="1"/>
          <p:nvPr/>
        </p:nvSpPr>
        <p:spPr>
          <a:xfrm>
            <a:off x="457200" y="4343400"/>
            <a:ext cx="8229600" cy="411480"/>
          </a:xfrm>
          <a:prstGeom prst="rect">
            <a:avLst/>
          </a:prstGeom>
          <a:noFill/>
          <a:ln/>
        </p:spPr>
        <p:txBody>
          <a:bodyPr wrap="square" lIns="0" tIns="0" rIns="0" bIns="0" rtlCol="0" anchor="ctr"/>
          <a:lstStyle/>
          <a:p>
            <a:pPr indent="0" marL="0">
              <a:buNone/>
            </a:pPr>
            <a:r>
              <a:rPr lang="en-US" sz="1300" b="1" dirty="0">
                <a:solidFill>
                  <a:srgbClr val="B22222"/>
                </a:solidFill>
                <a:latin typeface="Calibri" pitchFamily="34" charset="0"/>
                <a:ea typeface="Calibri" pitchFamily="34" charset="-122"/>
                <a:cs typeface="Calibri" pitchFamily="34" charset="-120"/>
              </a:rPr>
              <a:t>Log axis</a:t>
            </a:r>
            <a:pPr indent="0" marL="0">
              <a:buNone/>
            </a:pPr>
            <a:r>
              <a:rPr lang="en-US" sz="1300" dirty="0">
                <a:solidFill>
                  <a:srgbClr val="1F2937"/>
                </a:solidFill>
                <a:latin typeface="Calibri" pitchFamily="34" charset="0"/>
                <a:ea typeface="Calibri" pitchFamily="34" charset="-122"/>
                <a:cs typeface="Calibri" pitchFamily="34" charset="-120"/>
              </a:rPr>
              <a:t> (skew)   </a:t>
            </a:r>
            <a:pPr indent="0" marL="0">
              <a:buNone/>
            </a:pPr>
            <a:r>
              <a:rPr lang="en-US" sz="1300" b="1" dirty="0">
                <a:solidFill>
                  <a:srgbClr val="B22222"/>
                </a:solidFill>
                <a:latin typeface="Calibri" pitchFamily="34" charset="0"/>
                <a:ea typeface="Calibri" pitchFamily="34" charset="-122"/>
                <a:cs typeface="Calibri" pitchFamily="34" charset="-120"/>
              </a:rPr>
              <a:t>Alpha + jitter</a:t>
            </a:r>
            <a:pPr indent="0" marL="0">
              <a:buNone/>
            </a:pPr>
            <a:r>
              <a:rPr lang="en-US" sz="1300" dirty="0">
                <a:solidFill>
                  <a:srgbClr val="1F2937"/>
                </a:solidFill>
                <a:latin typeface="Calibri" pitchFamily="34" charset="0"/>
                <a:ea typeface="Calibri" pitchFamily="34" charset="-122"/>
                <a:cs typeface="Calibri" pitchFamily="34" charset="-120"/>
              </a:rPr>
              <a:t> (overplotting)   </a:t>
            </a:r>
            <a:pPr indent="0" marL="0">
              <a:buNone/>
            </a:pPr>
            <a:r>
              <a:rPr lang="en-US" sz="1300" b="1" dirty="0">
                <a:solidFill>
                  <a:srgbClr val="B22222"/>
                </a:solidFill>
                <a:latin typeface="Calibri" pitchFamily="34" charset="0"/>
                <a:ea typeface="Calibri" pitchFamily="34" charset="-122"/>
                <a:cs typeface="Calibri" pitchFamily="34" charset="-120"/>
              </a:rPr>
              <a:t>Band means + annotation</a:t>
            </a:r>
            <a:pPr indent="0" marL="0">
              <a:buNone/>
            </a:pPr>
            <a:r>
              <a:rPr lang="en-US" sz="1300" dirty="0">
                <a:solidFill>
                  <a:srgbClr val="1F2937"/>
                </a:solidFill>
                <a:latin typeface="Calibri" pitchFamily="34" charset="0"/>
                <a:ea typeface="Calibri" pitchFamily="34" charset="-122"/>
                <a:cs typeface="Calibri" pitchFamily="34" charset="-120"/>
              </a:rPr>
              <a:t> (conditional means, position on a common scale)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22222"/>
          </a:solidFill>
          <a:ln w="12700">
            <a:solidFill>
              <a:srgbClr val="B22222"/>
            </a:solidFill>
            <a:prstDash val="solid"/>
          </a:ln>
        </p:spPr>
      </p:sp>
      <p:sp>
        <p:nvSpPr>
          <p:cNvPr id="3" name="Text 1"/>
          <p:cNvSpPr txBox="1"/>
          <p:nvPr/>
        </p:nvSpPr>
        <p:spPr>
          <a:xfrm>
            <a:off x="457200" y="228600"/>
            <a:ext cx="8229600" cy="731520"/>
          </a:xfrm>
          <a:prstGeom prst="rect">
            <a:avLst/>
          </a:prstGeom>
          <a:noFill/>
          <a:ln/>
        </p:spPr>
        <p:txBody>
          <a:bodyPr wrap="square" lIns="0" tIns="0" rIns="0" bIns="0"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Top-decile cutoff is 6.51 times the bottom-decile cutoff</a:t>
            </a:r>
            <a:endParaRPr lang="en-US" sz="2200" dirty="0"/>
          </a:p>
        </p:txBody>
      </p:sp>
      <p:sp>
        <p:nvSpPr>
          <p:cNvPr id="4" name="Text 2"/>
          <p:cNvSpPr txBox="1"/>
          <p:nvPr/>
        </p:nvSpPr>
        <p:spPr>
          <a:xfrm>
            <a:off x="457200" y="4828032"/>
            <a:ext cx="758952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ECO346 Assignment 1 | FA24-BEDS-020 | Source: PSLM 2019-20, weighted by hhweight</a:t>
            </a:r>
            <a:endParaRPr lang="en-US" sz="900" dirty="0"/>
          </a:p>
        </p:txBody>
      </p:sp>
      <p:sp>
        <p:nvSpPr>
          <p:cNvPr id="5" name="Text 3"/>
          <p:cNvSpPr txBox="1"/>
          <p:nvPr/>
        </p:nvSpPr>
        <p:spPr>
          <a:xfrm>
            <a:off x="832104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pic>
        <p:nvPicPr>
          <p:cNvPr id="6" name="Image 0" descr="Weighted histogram of annual earnings on a log scal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1051560"/>
            <a:ext cx="5486400" cy="3352800"/>
          </a:xfrm>
          <a:prstGeom prst="rect">
            <a:avLst/>
          </a:prstGeom>
        </p:spPr>
      </p:pic>
      <p:sp>
        <p:nvSpPr>
          <p:cNvPr id="7" name="Shape 4"/>
          <p:cNvSpPr/>
          <p:nvPr/>
        </p:nvSpPr>
        <p:spPr>
          <a:xfrm>
            <a:off x="6217920" y="1097280"/>
            <a:ext cx="2468880" cy="402336"/>
          </a:xfrm>
          <a:prstGeom prst="rect">
            <a:avLst/>
          </a:prstGeom>
          <a:solidFill>
            <a:srgbClr val="F3F4F6"/>
          </a:solidFill>
          <a:ln w="12700">
            <a:solidFill>
              <a:srgbClr val="FFFFFF"/>
            </a:solidFill>
            <a:prstDash val="solid"/>
          </a:ln>
        </p:spPr>
      </p:sp>
      <p:sp>
        <p:nvSpPr>
          <p:cNvPr id="8" name="Text 5"/>
          <p:cNvSpPr txBox="1"/>
          <p:nvPr/>
        </p:nvSpPr>
        <p:spPr>
          <a:xfrm>
            <a:off x="6309360" y="1097280"/>
            <a:ext cx="1371600" cy="402336"/>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Earners</a:t>
            </a:r>
            <a:endParaRPr lang="en-US" sz="1050" dirty="0"/>
          </a:p>
        </p:txBody>
      </p:sp>
      <p:sp>
        <p:nvSpPr>
          <p:cNvPr id="9" name="Text 6"/>
          <p:cNvSpPr txBox="1"/>
          <p:nvPr/>
        </p:nvSpPr>
        <p:spPr>
          <a:xfrm>
            <a:off x="7589520" y="1097280"/>
            <a:ext cx="1051560" cy="402336"/>
          </a:xfrm>
          <a:prstGeom prst="rect">
            <a:avLst/>
          </a:prstGeom>
          <a:noFill/>
          <a:ln/>
        </p:spPr>
        <p:txBody>
          <a:bodyPr wrap="square" lIns="0" tIns="0" rIns="0" bIns="0" rtlCol="0" anchor="ctr"/>
          <a:lstStyle/>
          <a:p>
            <a:pPr algn="r" indent="0" marL="0">
              <a:buNone/>
            </a:pPr>
            <a:r>
              <a:rPr lang="en-US" sz="1150" b="1" dirty="0">
                <a:solidFill>
                  <a:srgbClr val="1F2937"/>
                </a:solidFill>
                <a:latin typeface="Calibri" pitchFamily="34" charset="0"/>
                <a:ea typeface="Calibri" pitchFamily="34" charset="-122"/>
                <a:cs typeface="Calibri" pitchFamily="34" charset="-120"/>
              </a:rPr>
              <a:t>3,396</a:t>
            </a:r>
            <a:endParaRPr lang="en-US" sz="1150" dirty="0"/>
          </a:p>
        </p:txBody>
      </p:sp>
      <p:sp>
        <p:nvSpPr>
          <p:cNvPr id="10" name="Shape 7"/>
          <p:cNvSpPr/>
          <p:nvPr/>
        </p:nvSpPr>
        <p:spPr>
          <a:xfrm>
            <a:off x="6217920" y="1554480"/>
            <a:ext cx="2468880" cy="402336"/>
          </a:xfrm>
          <a:prstGeom prst="rect">
            <a:avLst/>
          </a:prstGeom>
          <a:solidFill>
            <a:srgbClr val="F3F4F6"/>
          </a:solidFill>
          <a:ln w="12700">
            <a:solidFill>
              <a:srgbClr val="FFFFFF"/>
            </a:solidFill>
            <a:prstDash val="solid"/>
          </a:ln>
        </p:spPr>
      </p:sp>
      <p:sp>
        <p:nvSpPr>
          <p:cNvPr id="11" name="Text 8"/>
          <p:cNvSpPr txBox="1"/>
          <p:nvPr/>
        </p:nvSpPr>
        <p:spPr>
          <a:xfrm>
            <a:off x="6309360" y="1554480"/>
            <a:ext cx="1371600" cy="402336"/>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Weighted median</a:t>
            </a:r>
            <a:endParaRPr lang="en-US" sz="1050" dirty="0"/>
          </a:p>
        </p:txBody>
      </p:sp>
      <p:sp>
        <p:nvSpPr>
          <p:cNvPr id="12" name="Text 9"/>
          <p:cNvSpPr txBox="1"/>
          <p:nvPr/>
        </p:nvSpPr>
        <p:spPr>
          <a:xfrm>
            <a:off x="7589520" y="1554480"/>
            <a:ext cx="1051560" cy="402336"/>
          </a:xfrm>
          <a:prstGeom prst="rect">
            <a:avLst/>
          </a:prstGeom>
          <a:noFill/>
          <a:ln/>
        </p:spPr>
        <p:txBody>
          <a:bodyPr wrap="square" lIns="0" tIns="0" rIns="0" bIns="0" rtlCol="0" anchor="ctr"/>
          <a:lstStyle/>
          <a:p>
            <a:pPr algn="r" indent="0" marL="0">
              <a:buNone/>
            </a:pPr>
            <a:r>
              <a:rPr lang="en-US" sz="1150" b="1" dirty="0">
                <a:solidFill>
                  <a:srgbClr val="1F2937"/>
                </a:solidFill>
                <a:latin typeface="Calibri" pitchFamily="34" charset="0"/>
                <a:ea typeface="Calibri" pitchFamily="34" charset="-122"/>
                <a:cs typeface="Calibri" pitchFamily="34" charset="-120"/>
              </a:rPr>
              <a:t>Rs 187,200</a:t>
            </a:r>
            <a:endParaRPr lang="en-US" sz="1150" dirty="0"/>
          </a:p>
        </p:txBody>
      </p:sp>
      <p:sp>
        <p:nvSpPr>
          <p:cNvPr id="13" name="Shape 10"/>
          <p:cNvSpPr/>
          <p:nvPr/>
        </p:nvSpPr>
        <p:spPr>
          <a:xfrm>
            <a:off x="6217920" y="2011680"/>
            <a:ext cx="2468880" cy="402336"/>
          </a:xfrm>
          <a:prstGeom prst="rect">
            <a:avLst/>
          </a:prstGeom>
          <a:solidFill>
            <a:srgbClr val="F3F4F6"/>
          </a:solidFill>
          <a:ln w="12700">
            <a:solidFill>
              <a:srgbClr val="FFFFFF"/>
            </a:solidFill>
            <a:prstDash val="solid"/>
          </a:ln>
        </p:spPr>
      </p:sp>
      <p:sp>
        <p:nvSpPr>
          <p:cNvPr id="14" name="Text 11"/>
          <p:cNvSpPr txBox="1"/>
          <p:nvPr/>
        </p:nvSpPr>
        <p:spPr>
          <a:xfrm>
            <a:off x="6309360" y="2011680"/>
            <a:ext cx="1371600" cy="402336"/>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Unweighted median</a:t>
            </a:r>
            <a:endParaRPr lang="en-US" sz="1050" dirty="0"/>
          </a:p>
        </p:txBody>
      </p:sp>
      <p:sp>
        <p:nvSpPr>
          <p:cNvPr id="15" name="Text 12"/>
          <p:cNvSpPr txBox="1"/>
          <p:nvPr/>
        </p:nvSpPr>
        <p:spPr>
          <a:xfrm>
            <a:off x="7589520" y="2011680"/>
            <a:ext cx="1051560" cy="402336"/>
          </a:xfrm>
          <a:prstGeom prst="rect">
            <a:avLst/>
          </a:prstGeom>
          <a:noFill/>
          <a:ln/>
        </p:spPr>
        <p:txBody>
          <a:bodyPr wrap="square" lIns="0" tIns="0" rIns="0" bIns="0" rtlCol="0" anchor="ctr"/>
          <a:lstStyle/>
          <a:p>
            <a:pPr algn="r" indent="0" marL="0">
              <a:buNone/>
            </a:pPr>
            <a:r>
              <a:rPr lang="en-US" sz="1150" b="1" dirty="0">
                <a:solidFill>
                  <a:srgbClr val="1F2937"/>
                </a:solidFill>
                <a:latin typeface="Calibri" pitchFamily="34" charset="0"/>
                <a:ea typeface="Calibri" pitchFamily="34" charset="-122"/>
                <a:cs typeface="Calibri" pitchFamily="34" charset="-120"/>
              </a:rPr>
              <a:t>Rs 180,000</a:t>
            </a:r>
            <a:endParaRPr lang="en-US" sz="1150" dirty="0"/>
          </a:p>
        </p:txBody>
      </p:sp>
      <p:sp>
        <p:nvSpPr>
          <p:cNvPr id="16" name="Shape 13"/>
          <p:cNvSpPr/>
          <p:nvPr/>
        </p:nvSpPr>
        <p:spPr>
          <a:xfrm>
            <a:off x="6217920" y="2468880"/>
            <a:ext cx="2468880" cy="402336"/>
          </a:xfrm>
          <a:prstGeom prst="rect">
            <a:avLst/>
          </a:prstGeom>
          <a:solidFill>
            <a:srgbClr val="F3F4F6"/>
          </a:solidFill>
          <a:ln w="12700">
            <a:solidFill>
              <a:srgbClr val="FFFFFF"/>
            </a:solidFill>
            <a:prstDash val="solid"/>
          </a:ln>
        </p:spPr>
      </p:sp>
      <p:sp>
        <p:nvSpPr>
          <p:cNvPr id="17" name="Text 14"/>
          <p:cNvSpPr txBox="1"/>
          <p:nvPr/>
        </p:nvSpPr>
        <p:spPr>
          <a:xfrm>
            <a:off x="6309360" y="2468880"/>
            <a:ext cx="1371600" cy="402336"/>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10th percentile</a:t>
            </a:r>
            <a:endParaRPr lang="en-US" sz="1050" dirty="0"/>
          </a:p>
        </p:txBody>
      </p:sp>
      <p:sp>
        <p:nvSpPr>
          <p:cNvPr id="18" name="Text 15"/>
          <p:cNvSpPr txBox="1"/>
          <p:nvPr/>
        </p:nvSpPr>
        <p:spPr>
          <a:xfrm>
            <a:off x="7589520" y="2468880"/>
            <a:ext cx="1051560" cy="402336"/>
          </a:xfrm>
          <a:prstGeom prst="rect">
            <a:avLst/>
          </a:prstGeom>
          <a:noFill/>
          <a:ln/>
        </p:spPr>
        <p:txBody>
          <a:bodyPr wrap="square" lIns="0" tIns="0" rIns="0" bIns="0" rtlCol="0" anchor="ctr"/>
          <a:lstStyle/>
          <a:p>
            <a:pPr algn="r" indent="0" marL="0">
              <a:buNone/>
            </a:pPr>
            <a:r>
              <a:rPr lang="en-US" sz="1150" b="1" dirty="0">
                <a:solidFill>
                  <a:srgbClr val="1F2937"/>
                </a:solidFill>
                <a:latin typeface="Calibri" pitchFamily="34" charset="0"/>
                <a:ea typeface="Calibri" pitchFamily="34" charset="-122"/>
                <a:cs typeface="Calibri" pitchFamily="34" charset="-120"/>
              </a:rPr>
              <a:t>Rs 70,000</a:t>
            </a:r>
            <a:endParaRPr lang="en-US" sz="1150" dirty="0"/>
          </a:p>
        </p:txBody>
      </p:sp>
      <p:sp>
        <p:nvSpPr>
          <p:cNvPr id="19" name="Shape 16"/>
          <p:cNvSpPr/>
          <p:nvPr/>
        </p:nvSpPr>
        <p:spPr>
          <a:xfrm>
            <a:off x="6217920" y="2926080"/>
            <a:ext cx="2468880" cy="402336"/>
          </a:xfrm>
          <a:prstGeom prst="rect">
            <a:avLst/>
          </a:prstGeom>
          <a:solidFill>
            <a:srgbClr val="F3F4F6"/>
          </a:solidFill>
          <a:ln w="12700">
            <a:solidFill>
              <a:srgbClr val="FFFFFF"/>
            </a:solidFill>
            <a:prstDash val="solid"/>
          </a:ln>
        </p:spPr>
      </p:sp>
      <p:sp>
        <p:nvSpPr>
          <p:cNvPr id="20" name="Text 17"/>
          <p:cNvSpPr txBox="1"/>
          <p:nvPr/>
        </p:nvSpPr>
        <p:spPr>
          <a:xfrm>
            <a:off x="6309360" y="2926080"/>
            <a:ext cx="1371600" cy="402336"/>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90th percentile</a:t>
            </a:r>
            <a:endParaRPr lang="en-US" sz="1050" dirty="0"/>
          </a:p>
        </p:txBody>
      </p:sp>
      <p:sp>
        <p:nvSpPr>
          <p:cNvPr id="21" name="Text 18"/>
          <p:cNvSpPr txBox="1"/>
          <p:nvPr/>
        </p:nvSpPr>
        <p:spPr>
          <a:xfrm>
            <a:off x="7589520" y="2926080"/>
            <a:ext cx="1051560" cy="402336"/>
          </a:xfrm>
          <a:prstGeom prst="rect">
            <a:avLst/>
          </a:prstGeom>
          <a:noFill/>
          <a:ln/>
        </p:spPr>
        <p:txBody>
          <a:bodyPr wrap="square" lIns="0" tIns="0" rIns="0" bIns="0" rtlCol="0" anchor="ctr"/>
          <a:lstStyle/>
          <a:p>
            <a:pPr algn="r" indent="0" marL="0">
              <a:buNone/>
            </a:pPr>
            <a:r>
              <a:rPr lang="en-US" sz="1150" b="1" dirty="0">
                <a:solidFill>
                  <a:srgbClr val="1F2937"/>
                </a:solidFill>
                <a:latin typeface="Calibri" pitchFamily="34" charset="0"/>
                <a:ea typeface="Calibri" pitchFamily="34" charset="-122"/>
                <a:cs typeface="Calibri" pitchFamily="34" charset="-120"/>
              </a:rPr>
              <a:t>Rs 456,000</a:t>
            </a:r>
            <a:endParaRPr lang="en-US" sz="1150" dirty="0"/>
          </a:p>
        </p:txBody>
      </p:sp>
      <p:sp>
        <p:nvSpPr>
          <p:cNvPr id="22" name="Shape 19"/>
          <p:cNvSpPr/>
          <p:nvPr/>
        </p:nvSpPr>
        <p:spPr>
          <a:xfrm>
            <a:off x="6217920" y="3383280"/>
            <a:ext cx="2468880" cy="402336"/>
          </a:xfrm>
          <a:prstGeom prst="rect">
            <a:avLst/>
          </a:prstGeom>
          <a:solidFill>
            <a:srgbClr val="FBE9E9"/>
          </a:solidFill>
          <a:ln w="12700">
            <a:solidFill>
              <a:srgbClr val="FFFFFF"/>
            </a:solidFill>
            <a:prstDash val="solid"/>
          </a:ln>
        </p:spPr>
      </p:sp>
      <p:sp>
        <p:nvSpPr>
          <p:cNvPr id="23" name="Text 20"/>
          <p:cNvSpPr txBox="1"/>
          <p:nvPr/>
        </p:nvSpPr>
        <p:spPr>
          <a:xfrm>
            <a:off x="6309360" y="3383280"/>
            <a:ext cx="1371600" cy="402336"/>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p90 / p10</a:t>
            </a:r>
            <a:endParaRPr lang="en-US" sz="1050" dirty="0"/>
          </a:p>
        </p:txBody>
      </p:sp>
      <p:sp>
        <p:nvSpPr>
          <p:cNvPr id="24" name="Text 21"/>
          <p:cNvSpPr txBox="1"/>
          <p:nvPr/>
        </p:nvSpPr>
        <p:spPr>
          <a:xfrm>
            <a:off x="7589520" y="3383280"/>
            <a:ext cx="1051560" cy="402336"/>
          </a:xfrm>
          <a:prstGeom prst="rect">
            <a:avLst/>
          </a:prstGeom>
          <a:noFill/>
          <a:ln/>
        </p:spPr>
        <p:txBody>
          <a:bodyPr wrap="square" lIns="0" tIns="0" rIns="0" bIns="0" rtlCol="0" anchor="ctr"/>
          <a:lstStyle/>
          <a:p>
            <a:pPr algn="r" indent="0" marL="0">
              <a:buNone/>
            </a:pPr>
            <a:r>
              <a:rPr lang="en-US" sz="1150" b="1" dirty="0">
                <a:solidFill>
                  <a:srgbClr val="1F2937"/>
                </a:solidFill>
                <a:latin typeface="Calibri" pitchFamily="34" charset="0"/>
                <a:ea typeface="Calibri" pitchFamily="34" charset="-122"/>
                <a:cs typeface="Calibri" pitchFamily="34" charset="-120"/>
              </a:rPr>
              <a:t>6.51</a:t>
            </a:r>
            <a:endParaRPr lang="en-US" sz="1150" dirty="0"/>
          </a:p>
        </p:txBody>
      </p:sp>
      <p:sp>
        <p:nvSpPr>
          <p:cNvPr id="25" name="Shape 22"/>
          <p:cNvSpPr/>
          <p:nvPr/>
        </p:nvSpPr>
        <p:spPr>
          <a:xfrm>
            <a:off x="6217920" y="3840480"/>
            <a:ext cx="2468880" cy="402336"/>
          </a:xfrm>
          <a:prstGeom prst="rect">
            <a:avLst/>
          </a:prstGeom>
          <a:solidFill>
            <a:srgbClr val="F3F4F6"/>
          </a:solidFill>
          <a:ln w="12700">
            <a:solidFill>
              <a:srgbClr val="FFFFFF"/>
            </a:solidFill>
            <a:prstDash val="solid"/>
          </a:ln>
        </p:spPr>
      </p:sp>
      <p:sp>
        <p:nvSpPr>
          <p:cNvPr id="26" name="Text 23"/>
          <p:cNvSpPr txBox="1"/>
          <p:nvPr/>
        </p:nvSpPr>
        <p:spPr>
          <a:xfrm>
            <a:off x="6309360" y="3840480"/>
            <a:ext cx="1371600" cy="402336"/>
          </a:xfrm>
          <a:prstGeom prst="rect">
            <a:avLst/>
          </a:prstGeom>
          <a:noFill/>
          <a:ln/>
        </p:spPr>
        <p:txBody>
          <a:bodyPr wrap="square" lIns="0" tIns="0" rIns="0" bIns="0" rtlCol="0" anchor="ctr"/>
          <a:lstStyle/>
          <a:p>
            <a:pPr indent="0" marL="0">
              <a:buNone/>
            </a:pPr>
            <a:r>
              <a:rPr lang="en-US" sz="1050" dirty="0">
                <a:solidFill>
                  <a:srgbClr val="6B7280"/>
                </a:solidFill>
                <a:latin typeface="Calibri" pitchFamily="34" charset="0"/>
                <a:ea typeface="Calibri" pitchFamily="34" charset="-122"/>
                <a:cs typeface="Calibri" pitchFamily="34" charset="-120"/>
              </a:rPr>
              <a:t>Excluded from histogram</a:t>
            </a:r>
            <a:endParaRPr lang="en-US" sz="1050" dirty="0"/>
          </a:p>
        </p:txBody>
      </p:sp>
      <p:sp>
        <p:nvSpPr>
          <p:cNvPr id="27" name="Text 24"/>
          <p:cNvSpPr txBox="1"/>
          <p:nvPr/>
        </p:nvSpPr>
        <p:spPr>
          <a:xfrm>
            <a:off x="7589520" y="3840480"/>
            <a:ext cx="1051560" cy="402336"/>
          </a:xfrm>
          <a:prstGeom prst="rect">
            <a:avLst/>
          </a:prstGeom>
          <a:noFill/>
          <a:ln/>
        </p:spPr>
        <p:txBody>
          <a:bodyPr wrap="square" lIns="0" tIns="0" rIns="0" bIns="0" rtlCol="0" anchor="ctr"/>
          <a:lstStyle/>
          <a:p>
            <a:pPr algn="r" indent="0" marL="0">
              <a:buNone/>
            </a:pPr>
            <a:r>
              <a:rPr lang="en-US" sz="1150" b="1" dirty="0">
                <a:solidFill>
                  <a:srgbClr val="1F2937"/>
                </a:solidFill>
                <a:latin typeface="Calibri" pitchFamily="34" charset="0"/>
                <a:ea typeface="Calibri" pitchFamily="34" charset="-122"/>
                <a:cs typeface="Calibri" pitchFamily="34" charset="-120"/>
              </a:rPr>
              <a:t>13</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22222"/>
          </a:solidFill>
          <a:ln w="12700">
            <a:solidFill>
              <a:srgbClr val="B22222"/>
            </a:solidFill>
            <a:prstDash val="solid"/>
          </a:ln>
        </p:spPr>
      </p:sp>
      <p:sp>
        <p:nvSpPr>
          <p:cNvPr id="3" name="Text 1"/>
          <p:cNvSpPr txBox="1"/>
          <p:nvPr/>
        </p:nvSpPr>
        <p:spPr>
          <a:xfrm>
            <a:off x="457200" y="228600"/>
            <a:ext cx="8229600" cy="731520"/>
          </a:xfrm>
          <a:prstGeom prst="rect">
            <a:avLst/>
          </a:prstGeom>
          <a:noFill/>
          <a:ln/>
        </p:spPr>
        <p:txBody>
          <a:bodyPr wrap="square" lIns="0" tIns="0" rIns="0" bIns="0" rtlCol="0" anchor="ctr"/>
          <a:lstStyle/>
          <a:p>
            <a:pPr indent="0" marL="0">
              <a:buNone/>
            </a:pPr>
            <a:r>
              <a:rPr lang="en-US" sz="2200" b="1" dirty="0">
                <a:solidFill>
                  <a:srgbClr val="1F2937"/>
                </a:solidFill>
                <a:latin typeface="Calibri" pitchFamily="34" charset="0"/>
                <a:ea typeface="Calibri" pitchFamily="34" charset="-122"/>
                <a:cs typeface="Calibri" pitchFamily="34" charset="-120"/>
              </a:rPr>
              <a:t>Earnings peak at ages 50-54; same-age gaps are larger</a:t>
            </a:r>
            <a:endParaRPr lang="en-US" sz="2200" dirty="0"/>
          </a:p>
        </p:txBody>
      </p:sp>
      <p:sp>
        <p:nvSpPr>
          <p:cNvPr id="4" name="Text 2"/>
          <p:cNvSpPr txBox="1"/>
          <p:nvPr/>
        </p:nvSpPr>
        <p:spPr>
          <a:xfrm>
            <a:off x="457200" y="4828032"/>
            <a:ext cx="758952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ECO346 Assignment 1 | FA24-BEDS-020 | Source: PSLM 2019-20, weighted by hhweight</a:t>
            </a:r>
            <a:endParaRPr lang="en-US" sz="900" dirty="0"/>
          </a:p>
        </p:txBody>
      </p:sp>
      <p:sp>
        <p:nvSpPr>
          <p:cNvPr id="5" name="Text 3"/>
          <p:cNvSpPr txBox="1"/>
          <p:nvPr/>
        </p:nvSpPr>
        <p:spPr>
          <a:xfrm>
            <a:off x="8321040" y="4828032"/>
            <a:ext cx="36576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pic>
        <p:nvPicPr>
          <p:cNvPr id="6" name="Image 0" descr="Earnings against age with weighted band mean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7200" y="1051560"/>
            <a:ext cx="5486400" cy="3352800"/>
          </a:xfrm>
          <a:prstGeom prst="rect">
            <a:avLst/>
          </a:prstGeom>
        </p:spPr>
      </p:pic>
      <p:sp>
        <p:nvSpPr>
          <p:cNvPr id="7" name="Text 4"/>
          <p:cNvSpPr txBox="1"/>
          <p:nvPr/>
        </p:nvSpPr>
        <p:spPr>
          <a:xfrm>
            <a:off x="6217920" y="1097280"/>
            <a:ext cx="2468880" cy="32004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Mean rises from Rs 141,017 (15-19) to Rs 352,522 (50-54).</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Age gain is 2.5x; the p90/p10 gap is 6.51x.</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Cannot tell: one cross-section, so age is mixed with cohort.</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Python reproduces the bands to the rupee (25-29: Rs 245,584).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ECO346 Assignment 1 - FA24-BEDS-020</dc:title>
  <dc:subject>PptxGenJS Presentation</dc:subject>
  <dc:creator>Danial</dc:creator>
  <cp:lastModifiedBy>Danial</cp:lastModifiedBy>
  <cp:revision>1</cp:revision>
  <dcterms:created xsi:type="dcterms:W3CDTF">2026-10-25T13:17:37Z</dcterms:created>
  <dcterms:modified xsi:type="dcterms:W3CDTF">2026-10-25T13:17:37Z</dcterms:modified>
</cp:coreProperties>
</file>