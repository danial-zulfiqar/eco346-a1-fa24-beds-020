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76" r:id="rId2"/>
  </p:sldMasterIdLst>
  <p:notesMasterIdLst>
    <p:notesMasterId r:id="rId9"/>
  </p:notesMasterIdLst>
  <p:sldIdLst>
    <p:sldId id="261" r:id="rId3"/>
    <p:sldId id="256" r:id="rId4"/>
    <p:sldId id="257" r:id="rId5"/>
    <p:sldId id="258" r:id="rId6"/>
    <p:sldId id="259" r:id="rId7"/>
    <p:sldId id="260"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6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3260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Introduce yourself. My registration number ends in a number that gives variant 4: KP rural. I use the PSLM 2019-20 person file joined to the household file by hhid, keep 3,396 earners aged 15-64, and weight everything by hhweight because the survey deliberately oversamples small districts. Figures are drawn in R; Python reproduces the band means.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100 seconds) Left: R's default, ggplot(data, aes(x, y)) + geom_point(). Right: my redesign. Three changes. One: a log vertical axis, because earnings are right-skewed and on a linear axis most people are squashed at the bottom. Two: transparency 0.15 and horizontal jitter of at most 0.4 years, because ages are whole numbers and thousands of points overplot into columns. Three: weighted means for each five-year band, joined by a line and annotated, because position on a common scale is the most accurate visual channel and the conditional mean shows the age pattern. The default does show one thing the redesign hides: the single largest earner, Rs 12,000,000, far above everyone, which shows how extreme the right tail 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70 seconds) Weighted histogram on a log scale with bins 0.1 wide. The weighted median is Rs 187,200; the unweighted median is Rs 180,000. The 10th percentile is Rs 70,000 and the 90th is Rs 456,000, a ratio of 6.51. 13 earners fall outside Rs 10,000 to Rs 10,000,000 and are excluded from the histogram only. Percentiles use the cumulative-weight definition, not R's quantile().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The finding I consider most important: mean earnings rise from Rs 141,017 at 15-19 to Rs 352,522 at 50-54, but the gap between the 90th and 10th percentile (6.51x) is bigger than the age gain (2.5x), so differences between people of the same age matter more than age itself. Limitation: this is one cross-section, so age is mixed with cohort effects and selection into work. Python reproduces every band mean to the rupee; the 25-29 band is Rs 245,584 in both languages.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247255" y="-44532"/>
            <a:ext cx="9386888" cy="5192849"/>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1251970" y="889863"/>
            <a:ext cx="6636259" cy="3358450"/>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319428" y="1556628"/>
            <a:ext cx="6509936" cy="1311547"/>
          </a:xfrm>
        </p:spPr>
        <p:txBody>
          <a:bodyPr bIns="0" anchor="b">
            <a:normAutofit/>
          </a:bodyPr>
          <a:lstStyle>
            <a:lvl1pPr algn="ctr">
              <a:lnSpc>
                <a:spcPct val="80000"/>
              </a:lnSpc>
              <a:defRPr sz="4050" spc="-113">
                <a:solidFill>
                  <a:srgbClr val="FFFE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19428" y="2929700"/>
            <a:ext cx="6505070" cy="991940"/>
          </a:xfrm>
        </p:spPr>
        <p:txBody>
          <a:bodyPr tIns="0">
            <a:normAutofit/>
          </a:bodyPr>
          <a:lstStyle>
            <a:lvl1pPr marL="0" indent="0" algn="ctr">
              <a:lnSpc>
                <a:spcPct val="100000"/>
              </a:lnSpc>
              <a:buNone/>
              <a:defRPr sz="1350" b="0">
                <a:solidFill>
                  <a:srgbClr val="FFFEFF"/>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603504" y="240030"/>
            <a:ext cx="2743200" cy="240030"/>
          </a:xfrm>
        </p:spPr>
        <p:txBody>
          <a:bodyPr vert="horz" lIns="91440" tIns="45720" rIns="91440" bIns="45720" rtlCol="0" anchor="ctr"/>
          <a:lstStyle>
            <a:lvl1pPr>
              <a:defRPr lang="en-US"/>
            </a:lvl1pPr>
          </a:lstStyle>
          <a:p>
            <a:fld id="{48A87A34-81AB-432B-8DAE-1953F412C126}" type="datetimeFigureOut">
              <a:rPr lang="en-US" dirty="0"/>
              <a:pPr/>
              <a:t>10/26/2026</a:t>
            </a:fld>
            <a:endParaRPr lang="en-US" dirty="0"/>
          </a:p>
        </p:txBody>
      </p:sp>
      <p:sp>
        <p:nvSpPr>
          <p:cNvPr id="5" name="Footer Placeholder 4"/>
          <p:cNvSpPr>
            <a:spLocks noGrp="1"/>
          </p:cNvSpPr>
          <p:nvPr>
            <p:ph type="ftr" sz="quarter" idx="11"/>
          </p:nvPr>
        </p:nvSpPr>
        <p:spPr>
          <a:xfrm>
            <a:off x="603504" y="4670298"/>
            <a:ext cx="7941564" cy="24003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7852410" y="240030"/>
            <a:ext cx="685800" cy="24003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04367004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313135" y="0"/>
            <a:ext cx="9438086" cy="5139929"/>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600108" y="1274692"/>
            <a:ext cx="2755857" cy="2602816"/>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666474" y="1762444"/>
            <a:ext cx="2624234" cy="1842332"/>
          </a:xfrm>
        </p:spPr>
        <p:txBody>
          <a:bodyPr/>
          <a:lstStyle>
            <a:lvl1pPr>
              <a:defRPr>
                <a:solidFill>
                  <a:srgbClr val="FFFE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838836" y="602389"/>
            <a:ext cx="4711405" cy="3936467"/>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40536103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247255" y="-44532"/>
            <a:ext cx="9386888" cy="5192849"/>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2444659" y="889863"/>
            <a:ext cx="4249609" cy="3358450"/>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2508162" y="1556047"/>
            <a:ext cx="4117668" cy="1267043"/>
          </a:xfrm>
        </p:spPr>
        <p:txBody>
          <a:bodyPr bIns="0" anchor="b">
            <a:normAutofit/>
          </a:bodyPr>
          <a:lstStyle>
            <a:lvl1pPr algn="ctr">
              <a:defRPr sz="3300">
                <a:solidFill>
                  <a:srgbClr val="FFFEFF"/>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508162" y="2885138"/>
            <a:ext cx="4117667" cy="1037828"/>
          </a:xfrm>
        </p:spPr>
        <p:txBody>
          <a:bodyPr tIns="0">
            <a:normAutofit/>
          </a:bodyPr>
          <a:lstStyle>
            <a:lvl1pPr marL="0" indent="0" algn="ctr">
              <a:buNone/>
              <a:defRPr sz="1350">
                <a:solidFill>
                  <a:srgbClr val="FFFEFF"/>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603504" y="240030"/>
            <a:ext cx="2743200" cy="240030"/>
          </a:xfrm>
        </p:spPr>
        <p:txBody>
          <a:bodyPr/>
          <a:lstStyle/>
          <a:p>
            <a:fld id="{48A87A34-81AB-432B-8DAE-1953F412C126}" type="datetimeFigureOut">
              <a:rPr lang="en-US" dirty="0"/>
              <a:t>10/26/2026</a:t>
            </a:fld>
            <a:endParaRPr lang="en-US" dirty="0"/>
          </a:p>
        </p:txBody>
      </p:sp>
      <p:sp>
        <p:nvSpPr>
          <p:cNvPr id="5" name="Footer Placeholder 4"/>
          <p:cNvSpPr>
            <a:spLocks noGrp="1"/>
          </p:cNvSpPr>
          <p:nvPr>
            <p:ph type="ftr" sz="quarter" idx="11"/>
          </p:nvPr>
        </p:nvSpPr>
        <p:spPr>
          <a:xfrm>
            <a:off x="603504" y="4670298"/>
            <a:ext cx="7941564" cy="240030"/>
          </a:xfrm>
        </p:spPr>
        <p:txBody>
          <a:bodyPr/>
          <a:lstStyle>
            <a:lvl1pPr algn="ctr">
              <a:defRPr/>
            </a:lvl1pPr>
          </a:lstStyle>
          <a:p>
            <a:endParaRPr lang="en-US" dirty="0"/>
          </a:p>
        </p:txBody>
      </p:sp>
      <p:sp>
        <p:nvSpPr>
          <p:cNvPr id="6" name="Slide Number Placeholder 5"/>
          <p:cNvSpPr>
            <a:spLocks noGrp="1"/>
          </p:cNvSpPr>
          <p:nvPr>
            <p:ph type="sldNum" sz="quarter" idx="12"/>
          </p:nvPr>
        </p:nvSpPr>
        <p:spPr>
          <a:xfrm>
            <a:off x="7852410" y="240030"/>
            <a:ext cx="685800" cy="24003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405247662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313135" y="0"/>
            <a:ext cx="9438086" cy="5139929"/>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600108" y="1274692"/>
            <a:ext cx="2755857" cy="2602816"/>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666750" y="1754752"/>
            <a:ext cx="2625621" cy="1852549"/>
          </a:xfrm>
        </p:spPr>
        <p:txBody>
          <a:bodyPr lIns="91440" tIns="91440" rIns="91440" bIns="91440"/>
          <a:lstStyle>
            <a:lvl1pPr>
              <a:defRPr>
                <a:solidFill>
                  <a:srgbClr val="FFFEFF"/>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3840659" y="602391"/>
            <a:ext cx="4702193" cy="17869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38835" y="2754121"/>
            <a:ext cx="4704017" cy="178769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603504" y="240030"/>
            <a:ext cx="2743200" cy="240030"/>
          </a:xfrm>
        </p:spPr>
        <p:txBody>
          <a:bodyPr/>
          <a:lstStyle/>
          <a:p>
            <a:fld id="{48A87A34-81AB-432B-8DAE-1953F412C126}" type="datetimeFigureOut">
              <a:rPr lang="en-US" dirty="0"/>
              <a:t>10/26/2026</a:t>
            </a:fld>
            <a:endParaRPr lang="en-US" dirty="0"/>
          </a:p>
        </p:txBody>
      </p:sp>
      <p:sp>
        <p:nvSpPr>
          <p:cNvPr id="6" name="Footer Placeholder 5"/>
          <p:cNvSpPr>
            <a:spLocks noGrp="1"/>
          </p:cNvSpPr>
          <p:nvPr>
            <p:ph type="ftr" sz="quarter" idx="11"/>
          </p:nvPr>
        </p:nvSpPr>
        <p:spPr>
          <a:xfrm>
            <a:off x="603504" y="4670298"/>
            <a:ext cx="7941564" cy="240030"/>
          </a:xfrm>
        </p:spPr>
        <p:txBody>
          <a:bodyPr/>
          <a:lstStyle/>
          <a:p>
            <a:endParaRPr lang="en-US" dirty="0"/>
          </a:p>
        </p:txBody>
      </p:sp>
      <p:sp>
        <p:nvSpPr>
          <p:cNvPr id="7" name="Slide Number Placeholder 6"/>
          <p:cNvSpPr>
            <a:spLocks noGrp="1"/>
          </p:cNvSpPr>
          <p:nvPr>
            <p:ph type="sldNum" sz="quarter" idx="12"/>
          </p:nvPr>
        </p:nvSpPr>
        <p:spPr>
          <a:xfrm>
            <a:off x="7852410" y="240030"/>
            <a:ext cx="685800" cy="24003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4317427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313135" y="0"/>
            <a:ext cx="9438086" cy="5139929"/>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600108" y="1274692"/>
            <a:ext cx="2755857" cy="2602816"/>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666751" y="1772937"/>
            <a:ext cx="2625621" cy="1845373"/>
          </a:xfrm>
        </p:spPr>
        <p:txBody>
          <a:bodyPr lIns="91440" tIns="91440" rIns="91440" bIns="91440"/>
          <a:lstStyle>
            <a:lvl1pPr>
              <a:defRPr>
                <a:solidFill>
                  <a:srgbClr val="FFFEFF"/>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3843853" y="602389"/>
            <a:ext cx="4698816" cy="514350"/>
          </a:xfrm>
        </p:spPr>
        <p:txBody>
          <a:bodyPr anchor="ctr">
            <a:noAutofit/>
          </a:bodyPr>
          <a:lstStyle>
            <a:lvl1pPr marL="0" indent="0" algn="l">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3843979" y="1116739"/>
            <a:ext cx="4698263" cy="127264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38989" y="2749415"/>
            <a:ext cx="4698311" cy="514350"/>
          </a:xfrm>
        </p:spPr>
        <p:txBody>
          <a:bodyPr anchor="ctr">
            <a:noAutofit/>
          </a:bodyPr>
          <a:lstStyle>
            <a:lvl1pPr marL="0" indent="0" algn="l">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3838835" y="3263765"/>
            <a:ext cx="4699191" cy="127804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a:xfrm>
            <a:off x="603504" y="240030"/>
            <a:ext cx="2743200" cy="240030"/>
          </a:xfrm>
        </p:spPr>
        <p:txBody>
          <a:bodyPr/>
          <a:lstStyle/>
          <a:p>
            <a:fld id="{48A87A34-81AB-432B-8DAE-1953F412C126}" type="datetimeFigureOut">
              <a:rPr lang="en-US" dirty="0"/>
              <a:t>10/26/2026</a:t>
            </a:fld>
            <a:endParaRPr lang="en-US" dirty="0"/>
          </a:p>
        </p:txBody>
      </p:sp>
      <p:sp>
        <p:nvSpPr>
          <p:cNvPr id="8" name="Footer Placeholder 7"/>
          <p:cNvSpPr>
            <a:spLocks noGrp="1"/>
          </p:cNvSpPr>
          <p:nvPr>
            <p:ph type="ftr" sz="quarter" idx="11"/>
          </p:nvPr>
        </p:nvSpPr>
        <p:spPr>
          <a:xfrm>
            <a:off x="603504" y="4670298"/>
            <a:ext cx="7941564" cy="240030"/>
          </a:xfrm>
        </p:spPr>
        <p:txBody>
          <a:bodyPr/>
          <a:lstStyle/>
          <a:p>
            <a:endParaRPr lang="en-US" dirty="0"/>
          </a:p>
        </p:txBody>
      </p:sp>
      <p:sp>
        <p:nvSpPr>
          <p:cNvPr id="9" name="Slide Number Placeholder 8"/>
          <p:cNvSpPr>
            <a:spLocks noGrp="1"/>
          </p:cNvSpPr>
          <p:nvPr>
            <p:ph type="sldNum" sz="quarter" idx="12"/>
          </p:nvPr>
        </p:nvSpPr>
        <p:spPr>
          <a:xfrm>
            <a:off x="7852410" y="240030"/>
            <a:ext cx="685800" cy="24003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55313009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313135" y="0"/>
            <a:ext cx="9438086" cy="5139929"/>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600108" y="1274692"/>
            <a:ext cx="2755857" cy="2602816"/>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666474" y="1762444"/>
            <a:ext cx="2625897" cy="1842332"/>
          </a:xfrm>
        </p:spPr>
        <p:txBody>
          <a:bodyPr/>
          <a:lstStyle>
            <a:lvl1pPr>
              <a:defRPr>
                <a:solidFill>
                  <a:srgbClr val="FFFEFF"/>
                </a:solidFill>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10/26/2026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00984032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3504" y="240030"/>
            <a:ext cx="2743200" cy="240030"/>
          </a:xfrm>
        </p:spPr>
        <p:txBody>
          <a:bodyPr/>
          <a:lstStyle/>
          <a:p>
            <a:fld id="{48A87A34-81AB-432B-8DAE-1953F412C126}" type="datetimeFigureOut">
              <a:rPr lang="en-US" dirty="0"/>
              <a:t>10/26/2026</a:t>
            </a:fld>
            <a:endParaRPr lang="en-US" dirty="0"/>
          </a:p>
        </p:txBody>
      </p:sp>
      <p:sp>
        <p:nvSpPr>
          <p:cNvPr id="3" name="Footer Placeholder 2"/>
          <p:cNvSpPr>
            <a:spLocks noGrp="1"/>
          </p:cNvSpPr>
          <p:nvPr>
            <p:ph type="ftr" sz="quarter" idx="11"/>
          </p:nvPr>
        </p:nvSpPr>
        <p:spPr>
          <a:xfrm>
            <a:off x="603504" y="4670298"/>
            <a:ext cx="7941564" cy="240030"/>
          </a:xfrm>
        </p:spPr>
        <p:txBody>
          <a:bodyPr/>
          <a:lstStyle/>
          <a:p>
            <a:endParaRPr lang="en-US" dirty="0"/>
          </a:p>
        </p:txBody>
      </p:sp>
      <p:sp>
        <p:nvSpPr>
          <p:cNvPr id="4" name="Slide Number Placeholder 3"/>
          <p:cNvSpPr>
            <a:spLocks noGrp="1"/>
          </p:cNvSpPr>
          <p:nvPr>
            <p:ph type="sldNum" sz="quarter" idx="12"/>
          </p:nvPr>
        </p:nvSpPr>
        <p:spPr>
          <a:xfrm>
            <a:off x="7852410" y="240030"/>
            <a:ext cx="685800" cy="24003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72896544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313135" y="0"/>
            <a:ext cx="9438086" cy="5139929"/>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600108" y="1274692"/>
            <a:ext cx="2755857" cy="2602816"/>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666474" y="1764019"/>
            <a:ext cx="2625898" cy="917474"/>
          </a:xfrm>
        </p:spPr>
        <p:txBody>
          <a:bodyPr bIns="0" anchor="b">
            <a:noAutofit/>
          </a:bodyPr>
          <a:lstStyle>
            <a:lvl1pPr algn="ctr">
              <a:defRPr sz="2400">
                <a:solidFill>
                  <a:srgbClr val="FFFE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832488" y="602107"/>
            <a:ext cx="4706276" cy="3937455"/>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66474" y="2685140"/>
            <a:ext cx="2625898" cy="915873"/>
          </a:xfrm>
        </p:spPr>
        <p:txBody>
          <a:bodyPr/>
          <a:lstStyle>
            <a:lvl1pPr marL="0" indent="0" algn="ctr">
              <a:buNone/>
              <a:defRPr sz="1200">
                <a:solidFill>
                  <a:srgbClr val="FFFE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10/26/2026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86205998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247255" y="-44532"/>
            <a:ext cx="9386888" cy="5192849"/>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604002" y="1273749"/>
            <a:ext cx="4456155" cy="2602816"/>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5657632" y="0"/>
            <a:ext cx="3486368" cy="5143500"/>
          </a:xfrm>
          <a:solidFill>
            <a:schemeClr val="bg1">
              <a:lumMod val="65000"/>
              <a:lumOff val="3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2" name="Title 1"/>
          <p:cNvSpPr>
            <a:spLocks noGrp="1"/>
          </p:cNvSpPr>
          <p:nvPr>
            <p:ph type="title"/>
          </p:nvPr>
        </p:nvSpPr>
        <p:spPr>
          <a:xfrm>
            <a:off x="664082" y="1770191"/>
            <a:ext cx="4332485" cy="883524"/>
          </a:xfrm>
        </p:spPr>
        <p:txBody>
          <a:bodyPr bIns="0" anchor="b">
            <a:normAutofit/>
          </a:bodyPr>
          <a:lstStyle>
            <a:lvl1pPr>
              <a:defRPr sz="2700">
                <a:solidFill>
                  <a:srgbClr val="FFFE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664082" y="2658759"/>
            <a:ext cx="4332485" cy="955649"/>
          </a:xfrm>
        </p:spPr>
        <p:txBody>
          <a:bodyPr>
            <a:normAutofit/>
          </a:bodyPr>
          <a:lstStyle>
            <a:lvl1pPr marL="0" indent="0" algn="ctr">
              <a:buNone/>
              <a:defRPr sz="1350">
                <a:solidFill>
                  <a:srgbClr val="FFFE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a:xfrm>
            <a:off x="603504" y="240030"/>
            <a:ext cx="2743200" cy="240030"/>
          </a:xfrm>
        </p:spPr>
        <p:txBody>
          <a:bodyPr/>
          <a:lstStyle/>
          <a:p>
            <a:fld id="{48A87A34-81AB-432B-8DAE-1953F412C126}" type="datetimeFigureOut">
              <a:rPr lang="en-US" dirty="0"/>
              <a:t>10/26/2026</a:t>
            </a:fld>
            <a:endParaRPr lang="en-US" dirty="0"/>
          </a:p>
        </p:txBody>
      </p:sp>
      <p:sp>
        <p:nvSpPr>
          <p:cNvPr id="6" name="Footer Placeholder 5"/>
          <p:cNvSpPr>
            <a:spLocks noGrp="1"/>
          </p:cNvSpPr>
          <p:nvPr>
            <p:ph type="ftr" sz="quarter" idx="11"/>
          </p:nvPr>
        </p:nvSpPr>
        <p:spPr>
          <a:xfrm>
            <a:off x="603505" y="4670298"/>
            <a:ext cx="4456652" cy="240030"/>
          </a:xfrm>
        </p:spPr>
        <p:txBody>
          <a:bodyPr/>
          <a:lstStyle/>
          <a:p>
            <a:endParaRPr lang="en-US" dirty="0"/>
          </a:p>
        </p:txBody>
      </p:sp>
      <p:sp>
        <p:nvSpPr>
          <p:cNvPr id="7" name="Slide Number Placeholder 6"/>
          <p:cNvSpPr>
            <a:spLocks noGrp="1"/>
          </p:cNvSpPr>
          <p:nvPr>
            <p:ph type="sldNum" sz="quarter" idx="12"/>
          </p:nvPr>
        </p:nvSpPr>
        <p:spPr>
          <a:xfrm>
            <a:off x="4371283" y="240030"/>
            <a:ext cx="685800" cy="24003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54128053"/>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313135" y="0"/>
            <a:ext cx="9438086" cy="5139929"/>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600108" y="1274692"/>
            <a:ext cx="2755857" cy="2602816"/>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666474" y="1762444"/>
            <a:ext cx="2625897" cy="1842331"/>
          </a:xfrm>
        </p:spPr>
        <p:txBody>
          <a:bodyPr/>
          <a:lstStyle>
            <a:lvl1pPr>
              <a:defRPr>
                <a:solidFill>
                  <a:srgbClr val="FFFEFF"/>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832488" y="596039"/>
            <a:ext cx="4706276" cy="394281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10/26/2026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30439687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9438086" cy="5139929"/>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5789211" y="1274692"/>
            <a:ext cx="2755857" cy="2602816"/>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5855578" y="1762444"/>
            <a:ext cx="2625896" cy="1842332"/>
          </a:xfrm>
        </p:spPr>
        <p:txBody>
          <a:bodyPr vert="eaVert"/>
          <a:lstStyle>
            <a:lvl1pPr algn="l">
              <a:lnSpc>
                <a:spcPct val="80000"/>
              </a:lnSpc>
              <a:defRPr>
                <a:solidFill>
                  <a:srgbClr val="FFFEFF"/>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2060" y="598834"/>
            <a:ext cx="4701467" cy="394297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03504" y="240030"/>
            <a:ext cx="2743200" cy="240030"/>
          </a:xfrm>
        </p:spPr>
        <p:txBody>
          <a:bodyPr/>
          <a:lstStyle/>
          <a:p>
            <a:fld id="{48A87A34-81AB-432B-8DAE-1953F412C126}" type="datetimeFigureOut">
              <a:rPr lang="en-US" dirty="0"/>
              <a:t>10/26/2026</a:t>
            </a:fld>
            <a:endParaRPr lang="en-US" dirty="0"/>
          </a:p>
        </p:txBody>
      </p:sp>
      <p:sp>
        <p:nvSpPr>
          <p:cNvPr id="5" name="Footer Placeholder 4"/>
          <p:cNvSpPr>
            <a:spLocks noGrp="1"/>
          </p:cNvSpPr>
          <p:nvPr>
            <p:ph type="ftr" sz="quarter" idx="11"/>
          </p:nvPr>
        </p:nvSpPr>
        <p:spPr>
          <a:xfrm>
            <a:off x="603504" y="4670298"/>
            <a:ext cx="7941564" cy="240030"/>
          </a:xfrm>
        </p:spPr>
        <p:txBody>
          <a:bodyPr/>
          <a:lstStyle/>
          <a:p>
            <a:endParaRPr lang="en-US" dirty="0"/>
          </a:p>
        </p:txBody>
      </p:sp>
      <p:sp>
        <p:nvSpPr>
          <p:cNvPr id="6" name="Slide Number Placeholder 5"/>
          <p:cNvSpPr>
            <a:spLocks noGrp="1"/>
          </p:cNvSpPr>
          <p:nvPr>
            <p:ph type="sldNum" sz="quarter" idx="12"/>
          </p:nvPr>
        </p:nvSpPr>
        <p:spPr>
          <a:xfrm>
            <a:off x="7852410" y="240030"/>
            <a:ext cx="685800" cy="240030"/>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51351354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148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useBgFill="1">
        <p:nvSpPr>
          <p:cNvPr id="12" name="Freeform 11"/>
          <p:cNvSpPr/>
          <p:nvPr/>
        </p:nvSpPr>
        <p:spPr>
          <a:xfrm>
            <a:off x="-11907" y="0"/>
            <a:ext cx="8762858" cy="4941094"/>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3211693"/>
            <a:ext cx="8496943" cy="1521634"/>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1" y="0"/>
            <a:ext cx="6539684" cy="342658"/>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21350" y="219988"/>
            <a:ext cx="8525337" cy="4313853"/>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668401" y="496992"/>
            <a:ext cx="7316390" cy="2074896"/>
          </a:xfrm>
        </p:spPr>
        <p:txBody>
          <a:bodyPr anchor="b">
            <a:normAutofit/>
          </a:bodyPr>
          <a:lstStyle>
            <a:lvl1pPr algn="r">
              <a:defRPr sz="6000"/>
            </a:lvl1pPr>
          </a:lstStyle>
          <a:p>
            <a:r>
              <a:rPr lang="en-US" smtClean="0"/>
              <a:t>Click to edit Master title style</a:t>
            </a:r>
            <a:endParaRPr lang="en-US" dirty="0"/>
          </a:p>
        </p:txBody>
      </p:sp>
      <p:sp>
        <p:nvSpPr>
          <p:cNvPr id="3" name="Subtitle 2"/>
          <p:cNvSpPr>
            <a:spLocks noGrp="1"/>
          </p:cNvSpPr>
          <p:nvPr>
            <p:ph type="subTitle" idx="1"/>
          </p:nvPr>
        </p:nvSpPr>
        <p:spPr>
          <a:xfrm rot="21420000">
            <a:off x="737297" y="2628907"/>
            <a:ext cx="7316390" cy="412750"/>
          </a:xfrm>
        </p:spPr>
        <p:txBody>
          <a:bodyPr anchor="t">
            <a:noAutofit/>
          </a:bodyPr>
          <a:lstStyle>
            <a:lvl1pPr marL="0" indent="0" algn="r">
              <a:buNone/>
              <a:defRPr sz="2100">
                <a:solidFill>
                  <a:schemeClr val="bg1">
                    <a:lumMod val="50000"/>
                  </a:schemeClr>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4" name="Date Placeholder 3"/>
          <p:cNvSpPr>
            <a:spLocks noGrp="1"/>
          </p:cNvSpPr>
          <p:nvPr>
            <p:ph type="dt" sz="half" idx="10"/>
          </p:nvPr>
        </p:nvSpPr>
        <p:spPr>
          <a:xfrm rot="21420000">
            <a:off x="3711406" y="3433847"/>
            <a:ext cx="4607740" cy="872334"/>
          </a:xfrm>
        </p:spPr>
        <p:txBody>
          <a:bodyPr/>
          <a:lstStyle>
            <a:lvl1pPr algn="ctr">
              <a:defRPr sz="4050">
                <a:solidFill>
                  <a:schemeClr val="accent1">
                    <a:lumMod val="50000"/>
                  </a:schemeClr>
                </a:solidFill>
              </a:defRPr>
            </a:lvl1pPr>
          </a:lstStyle>
          <a:p>
            <a:fld id="{48A87A34-81AB-432B-8DAE-1953F412C126}" type="datetimeFigureOut">
              <a:rPr lang="en-US" smtClean="0"/>
              <a:pPr/>
              <a:t>10/26/2026</a:t>
            </a:fld>
            <a:endParaRPr lang="en-US" dirty="0"/>
          </a:p>
        </p:txBody>
      </p:sp>
      <p:sp>
        <p:nvSpPr>
          <p:cNvPr id="5" name="Footer Placeholder 4"/>
          <p:cNvSpPr>
            <a:spLocks noGrp="1"/>
          </p:cNvSpPr>
          <p:nvPr>
            <p:ph type="ftr" sz="quarter" idx="11"/>
          </p:nvPr>
        </p:nvSpPr>
        <p:spPr>
          <a:xfrm rot="21420000">
            <a:off x="-4170" y="3662268"/>
            <a:ext cx="3035429" cy="896654"/>
          </a:xfrm>
        </p:spPr>
        <p:txBody>
          <a:bodyPr vert="horz" lIns="91440" tIns="45720" rIns="91440" bIns="45720" rtlCol="0" anchor="ctr"/>
          <a:lstStyle>
            <a:lvl1pPr algn="r">
              <a:defRPr lang="en-US" sz="4050" dirty="0"/>
            </a:lvl1pPr>
          </a:lstStyle>
          <a:p>
            <a:endParaRPr lang="en-US" dirty="0"/>
          </a:p>
        </p:txBody>
      </p:sp>
      <p:sp>
        <p:nvSpPr>
          <p:cNvPr id="6" name="Slide Number Placeholder 5"/>
          <p:cNvSpPr>
            <a:spLocks noGrp="1"/>
          </p:cNvSpPr>
          <p:nvPr>
            <p:ph type="sldNum" sz="quarter" idx="12"/>
          </p:nvPr>
        </p:nvSpPr>
        <p:spPr>
          <a:xfrm rot="21420000">
            <a:off x="7388818" y="2874486"/>
            <a:ext cx="680390" cy="373853"/>
          </a:xfrm>
        </p:spPr>
        <p:txBody>
          <a:bodyPr/>
          <a:lstStyle>
            <a:lvl1pPr>
              <a:defRPr sz="1800">
                <a:solidFill>
                  <a:schemeClr val="tx1">
                    <a:lumMod val="75000"/>
                    <a:lumOff val="25000"/>
                  </a:schemeClr>
                </a:solidFill>
              </a:defRPr>
            </a:lvl1pPr>
          </a:lstStyle>
          <a:p>
            <a:fld id="{6D22F896-40B5-4ADD-8801-0D06FADFA095}" type="slidenum">
              <a:rPr lang="en-US" smtClean="0"/>
              <a:t>‹#›</a:t>
            </a:fld>
            <a:endParaRPr lang="en-US" dirty="0"/>
          </a:p>
        </p:txBody>
      </p:sp>
      <p:sp>
        <p:nvSpPr>
          <p:cNvPr id="25" name="5-Point Star 24"/>
          <p:cNvSpPr/>
          <p:nvPr/>
        </p:nvSpPr>
        <p:spPr>
          <a:xfrm rot="21420000">
            <a:off x="3166039" y="3833517"/>
            <a:ext cx="386540" cy="386540"/>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6975735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514351" y="1547547"/>
            <a:ext cx="7796030" cy="248339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5355526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4351" y="514351"/>
            <a:ext cx="7796030" cy="2395115"/>
          </a:xfrm>
        </p:spPr>
        <p:txBody>
          <a:bodyPr anchor="b">
            <a:normAutofit/>
          </a:bodyPr>
          <a:lstStyle>
            <a:lvl1pPr algn="l">
              <a:defRPr sz="4050"/>
            </a:lvl1pPr>
          </a:lstStyle>
          <a:p>
            <a:r>
              <a:rPr lang="en-US" smtClean="0"/>
              <a:t>Click to edit Master title style</a:t>
            </a:r>
            <a:endParaRPr lang="en-US" dirty="0"/>
          </a:p>
        </p:txBody>
      </p:sp>
      <p:sp>
        <p:nvSpPr>
          <p:cNvPr id="3" name="Text Placeholder 2"/>
          <p:cNvSpPr>
            <a:spLocks noGrp="1"/>
          </p:cNvSpPr>
          <p:nvPr>
            <p:ph type="body" idx="1"/>
          </p:nvPr>
        </p:nvSpPr>
        <p:spPr>
          <a:xfrm>
            <a:off x="514351" y="2806700"/>
            <a:ext cx="7796030" cy="1229711"/>
          </a:xfrm>
        </p:spPr>
        <p:txBody>
          <a:bodyPr anchor="t">
            <a:normAutofit/>
          </a:bodyPr>
          <a:lstStyle>
            <a:lvl1pPr marL="0" indent="0" algn="l">
              <a:buNone/>
              <a:defRPr sz="1500">
                <a:solidFill>
                  <a:schemeClr val="bg1">
                    <a:lumMod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7698143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514351" y="514350"/>
            <a:ext cx="7797662" cy="868605"/>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514350" y="1547547"/>
            <a:ext cx="3816536" cy="2483392"/>
          </a:xfrm>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4495478" y="1547547"/>
            <a:ext cx="3814904" cy="2483392"/>
          </a:xfrm>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0057667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514351" y="514350"/>
            <a:ext cx="7796030" cy="868605"/>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88767" y="1547547"/>
            <a:ext cx="3642119" cy="509996"/>
          </a:xfrm>
        </p:spPr>
        <p:txBody>
          <a:bodyPr anchor="b">
            <a:noAutofit/>
          </a:bodyPr>
          <a:lstStyle>
            <a:lvl1pPr marL="0" indent="0">
              <a:lnSpc>
                <a:spcPct val="90000"/>
              </a:lnSpc>
              <a:buNone/>
              <a:defRPr sz="19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12" name="Content Placeholder 3"/>
          <p:cNvSpPr>
            <a:spLocks noGrp="1"/>
          </p:cNvSpPr>
          <p:nvPr>
            <p:ph sz="quarter" idx="13"/>
          </p:nvPr>
        </p:nvSpPr>
        <p:spPr>
          <a:xfrm>
            <a:off x="514352" y="2146300"/>
            <a:ext cx="3816534" cy="1884639"/>
          </a:xfrm>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644" y="1547547"/>
            <a:ext cx="3648368" cy="509996"/>
          </a:xfrm>
        </p:spPr>
        <p:txBody>
          <a:bodyPr anchor="b">
            <a:noAutofit/>
          </a:bodyPr>
          <a:lstStyle>
            <a:lvl1pPr marL="0" indent="0">
              <a:lnSpc>
                <a:spcPct val="90000"/>
              </a:lnSpc>
              <a:buNone/>
              <a:defRPr sz="19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13" name="Content Placeholder 5"/>
          <p:cNvSpPr>
            <a:spLocks noGrp="1"/>
          </p:cNvSpPr>
          <p:nvPr>
            <p:ph sz="quarter" idx="14"/>
          </p:nvPr>
        </p:nvSpPr>
        <p:spPr>
          <a:xfrm>
            <a:off x="4495477" y="2146300"/>
            <a:ext cx="3816535" cy="1884639"/>
          </a:xfrm>
        </p:spPr>
        <p:txBody>
          <a:bodyPr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724694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50655096"/>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37175141"/>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232" y="514350"/>
            <a:ext cx="3095145" cy="1517439"/>
          </a:xfrm>
        </p:spPr>
        <p:txBody>
          <a:bodyPr anchor="b">
            <a:normAutofit/>
          </a:bodyPr>
          <a:lstStyle>
            <a:lvl1pPr algn="ctr">
              <a:defRPr sz="2700"/>
            </a:lvl1pPr>
          </a:lstStyle>
          <a:p>
            <a:r>
              <a:rPr lang="en-US" smtClean="0"/>
              <a:t>Click to edit Master title style</a:t>
            </a:r>
            <a:endParaRPr lang="en-US" dirty="0"/>
          </a:p>
        </p:txBody>
      </p:sp>
      <p:sp>
        <p:nvSpPr>
          <p:cNvPr id="10" name="Content Placeholder 2"/>
          <p:cNvSpPr>
            <a:spLocks noGrp="1"/>
          </p:cNvSpPr>
          <p:nvPr>
            <p:ph sz="quarter" idx="13"/>
          </p:nvPr>
        </p:nvSpPr>
        <p:spPr>
          <a:xfrm>
            <a:off x="3784600" y="514350"/>
            <a:ext cx="4525781" cy="351658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20232" y="2031789"/>
            <a:ext cx="3095146" cy="1999150"/>
          </a:xfrm>
        </p:spPr>
        <p:txBody>
          <a:bodyPr anchor="t">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56778504"/>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514350"/>
            <a:ext cx="4758977" cy="1517439"/>
          </a:xfrm>
        </p:spPr>
        <p:txBody>
          <a:bodyPr anchor="b">
            <a:normAutofit/>
          </a:bodyPr>
          <a:lstStyle>
            <a:lvl1pPr algn="ctr">
              <a:defRPr sz="27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611771" y="0"/>
            <a:ext cx="2698610" cy="3803650"/>
          </a:xfrm>
          <a:ln w="57150" cmpd="thinThick">
            <a:solidFill>
              <a:schemeClr val="bg1">
                <a:lumMod val="50000"/>
              </a:schemeClr>
            </a:solidFill>
            <a:miter lim="800000"/>
          </a:ln>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514351" y="2031789"/>
            <a:ext cx="4758976" cy="1771861"/>
          </a:xfrm>
        </p:spPr>
        <p:txBody>
          <a:bodyPr anchor="t">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83810883"/>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3079749"/>
            <a:ext cx="7796031" cy="441635"/>
          </a:xfrm>
        </p:spPr>
        <p:txBody>
          <a:bodyPr anchor="b"/>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4351" y="514350"/>
            <a:ext cx="7794385" cy="2396177"/>
          </a:xfrm>
          <a:ln w="57150" cmpd="thinThick">
            <a:solidFill>
              <a:schemeClr val="bg1">
                <a:lumMod val="50000"/>
              </a:schemeClr>
            </a:solidFill>
            <a:miter lim="800000"/>
          </a:ln>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514335" y="3527192"/>
            <a:ext cx="7796046" cy="511854"/>
          </a:xfrm>
        </p:spPr>
        <p:txBody>
          <a:bodyPr anchor="t"/>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52779796"/>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1" y="514351"/>
            <a:ext cx="7797677" cy="2396177"/>
          </a:xfrm>
        </p:spPr>
        <p:txBody>
          <a:bodyPr anchor="ctr">
            <a:normAutofit/>
          </a:bodyPr>
          <a:lstStyle>
            <a:lvl1pPr algn="ct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514335" y="3079750"/>
            <a:ext cx="7796047" cy="955205"/>
          </a:xfrm>
        </p:spPr>
        <p:txBody>
          <a:bodyPr anchor="ct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8856414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99" y="514350"/>
            <a:ext cx="7143765" cy="2187528"/>
          </a:xfrm>
        </p:spPr>
        <p:txBody>
          <a:bodyPr anchor="ctr">
            <a:normAutofit/>
          </a:bodyPr>
          <a:lstStyle>
            <a:lvl1pPr algn="ct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162698" y="2707524"/>
            <a:ext cx="6500967" cy="283326"/>
          </a:xfrm>
        </p:spPr>
        <p:txBody>
          <a:bodyPr anchor="t">
            <a:normAutofit/>
          </a:bodyPr>
          <a:lstStyle>
            <a:lvl1pPr marL="0" indent="0" algn="r">
              <a:buNone/>
              <a:defRPr sz="1050">
                <a:solidFill>
                  <a:schemeClr val="tx1">
                    <a:lumMod val="50000"/>
                    <a:lumOff val="50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4" name="Text Placeholder 3"/>
          <p:cNvSpPr>
            <a:spLocks noGrp="1"/>
          </p:cNvSpPr>
          <p:nvPr>
            <p:ph type="body" sz="half" idx="2"/>
          </p:nvPr>
        </p:nvSpPr>
        <p:spPr>
          <a:xfrm>
            <a:off x="514351" y="3079751"/>
            <a:ext cx="7797662" cy="951189"/>
          </a:xfrm>
        </p:spPr>
        <p:txBody>
          <a:bodyPr anchor="ct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13" name="TextBox 12"/>
          <p:cNvSpPr txBox="1"/>
          <p:nvPr/>
        </p:nvSpPr>
        <p:spPr>
          <a:xfrm>
            <a:off x="514351" y="669471"/>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4" name="TextBox 13"/>
          <p:cNvSpPr txBox="1"/>
          <p:nvPr/>
        </p:nvSpPr>
        <p:spPr>
          <a:xfrm>
            <a:off x="7854812" y="219212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1107411776"/>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14351" y="1292891"/>
            <a:ext cx="7796030" cy="1883876"/>
          </a:xfrm>
        </p:spPr>
        <p:txBody>
          <a:bodyPr anchor="b">
            <a:normAutofit/>
          </a:bodyPr>
          <a:lstStyle>
            <a:lvl1pPr algn="l">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514351" y="3185601"/>
            <a:ext cx="7796030" cy="855483"/>
          </a:xfrm>
        </p:spPr>
        <p:txBody>
          <a:bodyPr anchor="t">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10/26/2026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6545578"/>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514351" y="514350"/>
            <a:ext cx="7796030" cy="863974"/>
          </a:xfrm>
        </p:spPr>
        <p:txBody>
          <a:bodyPr/>
          <a:lstStyle>
            <a:lvl1pPr algn="ctr">
              <a:defRPr/>
            </a:lvl1pPr>
          </a:lstStyle>
          <a:p>
            <a:r>
              <a:rPr lang="en-US" smtClean="0"/>
              <a:t>Click to edit Master title style</a:t>
            </a:r>
            <a:endParaRPr lang="en-US" dirty="0"/>
          </a:p>
        </p:txBody>
      </p:sp>
      <p:sp>
        <p:nvSpPr>
          <p:cNvPr id="7" name="Text Placeholder 2"/>
          <p:cNvSpPr>
            <a:spLocks noGrp="1"/>
          </p:cNvSpPr>
          <p:nvPr>
            <p:ph type="body" idx="1"/>
          </p:nvPr>
        </p:nvSpPr>
        <p:spPr>
          <a:xfrm>
            <a:off x="514352" y="1547546"/>
            <a:ext cx="2482596" cy="432197"/>
          </a:xfrm>
        </p:spPr>
        <p:txBody>
          <a:bodyPr anchor="b">
            <a:noAutofit/>
          </a:bodyPr>
          <a:lstStyle>
            <a:lvl1pPr marL="0" indent="0" algn="ctr">
              <a:lnSpc>
                <a:spcPct val="90000"/>
              </a:lnSpc>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8" name="Text Placeholder 3"/>
          <p:cNvSpPr>
            <a:spLocks noGrp="1"/>
          </p:cNvSpPr>
          <p:nvPr>
            <p:ph type="body" sz="half" idx="15"/>
          </p:nvPr>
        </p:nvSpPr>
        <p:spPr>
          <a:xfrm>
            <a:off x="514352" y="1979744"/>
            <a:ext cx="2482596" cy="205119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9" name="Text Placeholder 4"/>
          <p:cNvSpPr>
            <a:spLocks noGrp="1"/>
          </p:cNvSpPr>
          <p:nvPr>
            <p:ph type="body" sz="quarter" idx="3"/>
          </p:nvPr>
        </p:nvSpPr>
        <p:spPr>
          <a:xfrm>
            <a:off x="3175967" y="1547546"/>
            <a:ext cx="2482596" cy="432197"/>
          </a:xfrm>
        </p:spPr>
        <p:txBody>
          <a:bodyPr anchor="b">
            <a:noAutofit/>
          </a:bodyPr>
          <a:lstStyle>
            <a:lvl1pPr marL="0" indent="0" algn="ctr">
              <a:lnSpc>
                <a:spcPct val="90000"/>
              </a:lnSpc>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10" name="Text Placeholder 3"/>
          <p:cNvSpPr>
            <a:spLocks noGrp="1"/>
          </p:cNvSpPr>
          <p:nvPr>
            <p:ph type="body" sz="half" idx="16"/>
          </p:nvPr>
        </p:nvSpPr>
        <p:spPr>
          <a:xfrm>
            <a:off x="3175966" y="1979744"/>
            <a:ext cx="2482596" cy="205119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11" name="Text Placeholder 4"/>
          <p:cNvSpPr>
            <a:spLocks noGrp="1"/>
          </p:cNvSpPr>
          <p:nvPr>
            <p:ph type="body" sz="quarter" idx="13"/>
          </p:nvPr>
        </p:nvSpPr>
        <p:spPr>
          <a:xfrm>
            <a:off x="5827785" y="1547546"/>
            <a:ext cx="2482596" cy="432197"/>
          </a:xfrm>
        </p:spPr>
        <p:txBody>
          <a:bodyPr anchor="b">
            <a:noAutofit/>
          </a:bodyPr>
          <a:lstStyle>
            <a:lvl1pPr marL="0" indent="0" algn="ctr">
              <a:lnSpc>
                <a:spcPct val="90000"/>
              </a:lnSpc>
              <a:buNone/>
              <a:defRPr sz="18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12" name="Text Placeholder 3"/>
          <p:cNvSpPr>
            <a:spLocks noGrp="1"/>
          </p:cNvSpPr>
          <p:nvPr>
            <p:ph type="body" sz="half" idx="17"/>
          </p:nvPr>
        </p:nvSpPr>
        <p:spPr>
          <a:xfrm>
            <a:off x="5827785" y="1979744"/>
            <a:ext cx="2482596" cy="2051196"/>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10/26/2026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936711754"/>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514351" y="514350"/>
            <a:ext cx="7797662" cy="863974"/>
          </a:xfrm>
        </p:spPr>
        <p:txBody>
          <a:bodyPr/>
          <a:lstStyle>
            <a:lvl1pPr algn="ctr">
              <a:defRPr/>
            </a:lvl1pPr>
          </a:lstStyle>
          <a:p>
            <a:r>
              <a:rPr lang="en-US" smtClean="0"/>
              <a:t>Click to edit Master title style</a:t>
            </a:r>
            <a:endParaRPr lang="en-US" dirty="0"/>
          </a:p>
        </p:txBody>
      </p:sp>
      <p:sp>
        <p:nvSpPr>
          <p:cNvPr id="19" name="Text Placeholder 2"/>
          <p:cNvSpPr>
            <a:spLocks noGrp="1"/>
          </p:cNvSpPr>
          <p:nvPr>
            <p:ph type="body" idx="1"/>
          </p:nvPr>
        </p:nvSpPr>
        <p:spPr>
          <a:xfrm>
            <a:off x="518880" y="2859769"/>
            <a:ext cx="2482596" cy="432197"/>
          </a:xfrm>
        </p:spPr>
        <p:txBody>
          <a:bodyPr anchor="b">
            <a:noAutofit/>
          </a:bodyPr>
          <a:lstStyle>
            <a:lvl1pPr marL="0" indent="0" algn="ctr">
              <a:lnSpc>
                <a:spcPct val="90000"/>
              </a:lnSpc>
              <a:buNone/>
              <a:defRPr sz="16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20" name="Picture Placeholder 2"/>
          <p:cNvSpPr>
            <a:spLocks noGrp="1" noChangeAspect="1"/>
          </p:cNvSpPr>
          <p:nvPr>
            <p:ph type="pic" idx="15"/>
          </p:nvPr>
        </p:nvSpPr>
        <p:spPr>
          <a:xfrm>
            <a:off x="514335" y="1547547"/>
            <a:ext cx="2482596" cy="1152544"/>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21" name="Text Placeholder 3"/>
          <p:cNvSpPr>
            <a:spLocks noGrp="1"/>
          </p:cNvSpPr>
          <p:nvPr>
            <p:ph type="body" sz="half" idx="18"/>
          </p:nvPr>
        </p:nvSpPr>
        <p:spPr>
          <a:xfrm>
            <a:off x="518880" y="3291966"/>
            <a:ext cx="2482596" cy="738974"/>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22" name="Text Placeholder 4"/>
          <p:cNvSpPr>
            <a:spLocks noGrp="1"/>
          </p:cNvSpPr>
          <p:nvPr>
            <p:ph type="body" sz="quarter" idx="3"/>
          </p:nvPr>
        </p:nvSpPr>
        <p:spPr>
          <a:xfrm>
            <a:off x="3178058" y="2859769"/>
            <a:ext cx="2482596" cy="432197"/>
          </a:xfrm>
        </p:spPr>
        <p:txBody>
          <a:bodyPr anchor="b">
            <a:noAutofit/>
          </a:bodyPr>
          <a:lstStyle>
            <a:lvl1pPr marL="0" indent="0" algn="ctr">
              <a:lnSpc>
                <a:spcPct val="90000"/>
              </a:lnSpc>
              <a:buNone/>
              <a:defRPr sz="16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23" name="Picture Placeholder 2"/>
          <p:cNvSpPr>
            <a:spLocks noGrp="1" noChangeAspect="1"/>
          </p:cNvSpPr>
          <p:nvPr>
            <p:ph type="pic" idx="21"/>
          </p:nvPr>
        </p:nvSpPr>
        <p:spPr>
          <a:xfrm>
            <a:off x="3176999" y="1547547"/>
            <a:ext cx="2482596" cy="1151428"/>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24" name="Text Placeholder 3"/>
          <p:cNvSpPr>
            <a:spLocks noGrp="1"/>
          </p:cNvSpPr>
          <p:nvPr>
            <p:ph type="body" sz="half" idx="19"/>
          </p:nvPr>
        </p:nvSpPr>
        <p:spPr>
          <a:xfrm>
            <a:off x="3176999" y="3291965"/>
            <a:ext cx="2482596" cy="738975"/>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25" name="Text Placeholder 4"/>
          <p:cNvSpPr>
            <a:spLocks noGrp="1"/>
          </p:cNvSpPr>
          <p:nvPr>
            <p:ph type="body" sz="quarter" idx="13"/>
          </p:nvPr>
        </p:nvSpPr>
        <p:spPr>
          <a:xfrm>
            <a:off x="5826708" y="2859769"/>
            <a:ext cx="2482596" cy="432197"/>
          </a:xfrm>
        </p:spPr>
        <p:txBody>
          <a:bodyPr anchor="b">
            <a:noAutofit/>
          </a:bodyPr>
          <a:lstStyle>
            <a:lvl1pPr marL="0" indent="0" algn="ctr">
              <a:lnSpc>
                <a:spcPct val="90000"/>
              </a:lnSpc>
              <a:buNone/>
              <a:defRPr sz="165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26" name="Picture Placeholder 2"/>
          <p:cNvSpPr>
            <a:spLocks noGrp="1" noChangeAspect="1"/>
          </p:cNvSpPr>
          <p:nvPr>
            <p:ph type="pic" idx="22"/>
          </p:nvPr>
        </p:nvSpPr>
        <p:spPr>
          <a:xfrm>
            <a:off x="5826614" y="1547546"/>
            <a:ext cx="2482596" cy="115289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27" name="Text Placeholder 3"/>
          <p:cNvSpPr>
            <a:spLocks noGrp="1"/>
          </p:cNvSpPr>
          <p:nvPr>
            <p:ph type="body" sz="half" idx="20"/>
          </p:nvPr>
        </p:nvSpPr>
        <p:spPr>
          <a:xfrm>
            <a:off x="5826614" y="3291963"/>
            <a:ext cx="2482596" cy="738977"/>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10/26/2026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739538073"/>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514351" y="1547547"/>
            <a:ext cx="7796030" cy="248339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1629275"/>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1896" y="514350"/>
            <a:ext cx="1698485" cy="351658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514351" y="514350"/>
            <a:ext cx="5928323" cy="3516589"/>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10/26/2026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38484136"/>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847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371" y="1768794"/>
            <a:ext cx="2624000" cy="1842364"/>
          </a:xfrm>
          <a:prstGeom prst="rect">
            <a:avLst/>
          </a:prstGeom>
        </p:spPr>
        <p:txBody>
          <a:bodyPr vert="horz" lIns="228600" tIns="228600" rIns="228600" bIns="22860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076237" y="596039"/>
            <a:ext cx="4462527" cy="394281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p>
        </p:txBody>
      </p:sp>
      <p:sp>
        <p:nvSpPr>
          <p:cNvPr id="4" name="Date Placeholder 3"/>
          <p:cNvSpPr>
            <a:spLocks noGrp="1"/>
          </p:cNvSpPr>
          <p:nvPr>
            <p:ph type="dt" sz="half" idx="2"/>
          </p:nvPr>
        </p:nvSpPr>
        <p:spPr>
          <a:xfrm>
            <a:off x="603504" y="240030"/>
            <a:ext cx="2743200" cy="240030"/>
          </a:xfrm>
          <a:prstGeom prst="rect">
            <a:avLst/>
          </a:prstGeom>
        </p:spPr>
        <p:txBody>
          <a:bodyPr vert="horz" lIns="91440" tIns="45720" rIns="91440" bIns="45720" rtlCol="0" anchor="ctr"/>
          <a:lstStyle>
            <a:lvl1pPr algn="l">
              <a:defRPr sz="750">
                <a:solidFill>
                  <a:schemeClr val="tx1">
                    <a:tint val="75000"/>
                  </a:schemeClr>
                </a:solidFill>
              </a:defRPr>
            </a:lvl1pPr>
          </a:lstStyle>
          <a:p>
            <a:fld id="{48A87A34-81AB-432B-8DAE-1953F412C126}" type="datetimeFigureOut">
              <a:rPr lang="en-US" dirty="0"/>
              <a:pPr/>
              <a:t>10/26/2026</a:t>
            </a:fld>
            <a:endParaRPr lang="en-US" dirty="0"/>
          </a:p>
        </p:txBody>
      </p:sp>
      <p:sp>
        <p:nvSpPr>
          <p:cNvPr id="5" name="Footer Placeholder 4"/>
          <p:cNvSpPr>
            <a:spLocks noGrp="1"/>
          </p:cNvSpPr>
          <p:nvPr>
            <p:ph type="ftr" sz="quarter" idx="3"/>
          </p:nvPr>
        </p:nvSpPr>
        <p:spPr>
          <a:xfrm>
            <a:off x="603504" y="4670298"/>
            <a:ext cx="7941564" cy="240030"/>
          </a:xfrm>
          <a:prstGeom prst="rect">
            <a:avLst/>
          </a:prstGeom>
        </p:spPr>
        <p:txBody>
          <a:bodyPr vert="horz" lIns="91440" tIns="45720" rIns="91440" bIns="45720" rtlCol="0" anchor="ctr"/>
          <a:lstStyle>
            <a:lvl1pPr algn="r">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852410" y="240030"/>
            <a:ext cx="685800" cy="240030"/>
          </a:xfrm>
          <a:prstGeom prst="rect">
            <a:avLst/>
          </a:prstGeom>
        </p:spPr>
        <p:txBody>
          <a:bodyPr vert="horz" lIns="91440" tIns="45720" rIns="91440" bIns="45720" rtlCol="0" anchor="ctr"/>
          <a:lstStyle>
            <a:lvl1pPr algn="r">
              <a:defRPr sz="750">
                <a:solidFill>
                  <a:schemeClr val="tx1">
                    <a:tint val="75000"/>
                  </a:schemeClr>
                </a:solidFill>
              </a:defRPr>
            </a:lvl1pPr>
          </a:lstStyle>
          <a:p>
            <a:fld id="{6D22F896-40B5-4ADD-8801-0D06FADFA095}" type="slidenum">
              <a:rPr lang="en-US" dirty="0"/>
              <a:pPr/>
              <a:t>‹#›</a:t>
            </a:fld>
            <a:endParaRPr lang="en-US" dirty="0"/>
          </a:p>
        </p:txBody>
      </p:sp>
    </p:spTree>
    <p:extLst>
      <p:ext uri="{BB962C8B-B14F-4D97-AF65-F5344CB8AC3E}">
        <p14:creationId xmlns:p14="http://schemas.microsoft.com/office/powerpoint/2010/main" val="401861374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ctr" defTabSz="685800" rtl="0" eaLnBrk="1" latinLnBrk="0" hangingPunct="1">
        <a:lnSpc>
          <a:spcPct val="85000"/>
        </a:lnSpc>
        <a:spcBef>
          <a:spcPct val="0"/>
        </a:spcBef>
        <a:buNone/>
        <a:defRPr sz="3000" b="0" i="0" kern="1200" cap="none" spc="-113">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10000"/>
        <a:buFont typeface="Wingdings" panose="05000000000000000000" pitchFamily="2" charset="2"/>
        <a:buChar char="§"/>
        <a:defRPr sz="135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105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grpSp>
        <p:nvGrpSpPr>
          <p:cNvPr id="10" name="Group 9"/>
          <p:cNvGrpSpPr/>
          <p:nvPr/>
        </p:nvGrpSpPr>
        <p:grpSpPr>
          <a:xfrm>
            <a:off x="-19048" y="0"/>
            <a:ext cx="9004013" cy="498306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14351" y="514350"/>
            <a:ext cx="7797662" cy="86397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4351" y="1547547"/>
            <a:ext cx="7797662" cy="2483392"/>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73562" y="4318000"/>
            <a:ext cx="2838450" cy="373853"/>
          </a:xfrm>
          <a:prstGeom prst="rect">
            <a:avLst/>
          </a:prstGeom>
        </p:spPr>
        <p:txBody>
          <a:bodyPr vert="horz" lIns="91440" tIns="45720" rIns="91440" bIns="45720" rtlCol="0" anchor="ctr"/>
          <a:lstStyle>
            <a:lvl1pPr algn="r">
              <a:defRPr sz="2400" cap="all" baseline="0">
                <a:solidFill>
                  <a:schemeClr val="accent1">
                    <a:lumMod val="50000"/>
                  </a:schemeClr>
                </a:solidFill>
              </a:defRPr>
            </a:lvl1pPr>
          </a:lstStyle>
          <a:p>
            <a:fld id="{48A87A34-81AB-432B-8DAE-1953F412C126}" type="datetimeFigureOut">
              <a:rPr lang="en-US" smtClean="0"/>
              <a:pPr/>
              <a:t>10/26/2026</a:t>
            </a:fld>
            <a:endParaRPr lang="en-US" dirty="0"/>
          </a:p>
        </p:txBody>
      </p:sp>
      <p:sp>
        <p:nvSpPr>
          <p:cNvPr id="5" name="Footer Placeholder 4"/>
          <p:cNvSpPr>
            <a:spLocks noGrp="1"/>
          </p:cNvSpPr>
          <p:nvPr>
            <p:ph type="ftr" sz="quarter" idx="3"/>
          </p:nvPr>
        </p:nvSpPr>
        <p:spPr>
          <a:xfrm>
            <a:off x="514351" y="4318000"/>
            <a:ext cx="4124789" cy="373853"/>
          </a:xfrm>
          <a:prstGeom prst="rect">
            <a:avLst/>
          </a:prstGeom>
        </p:spPr>
        <p:txBody>
          <a:bodyPr vert="horz" lIns="91440" tIns="45720" rIns="91440" bIns="45720" rtlCol="0" anchor="ctr"/>
          <a:lstStyle>
            <a:lvl1pPr algn="l">
              <a:defRPr sz="2400" cap="all" baseline="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4715341" y="4318000"/>
            <a:ext cx="680390" cy="373853"/>
          </a:xfrm>
          <a:prstGeom prst="rect">
            <a:avLst/>
          </a:prstGeom>
        </p:spPr>
        <p:txBody>
          <a:bodyPr vert="horz" lIns="91440" tIns="45720" rIns="91440" bIns="45720" rtlCol="0" anchor="ctr"/>
          <a:lstStyle>
            <a:lvl1pPr algn="ctr">
              <a:defRPr sz="2400" cap="all" baseline="0">
                <a:solidFill>
                  <a:schemeClr val="accent1">
                    <a:lumMod val="50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81512803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Lst>
  <p:hf sldNum="0" hdr="0" ftr="0" dt="0"/>
  <p:txStyles>
    <p:titleStyle>
      <a:lvl1pPr algn="l" defTabSz="685800" rtl="0" eaLnBrk="1" latinLnBrk="0" hangingPunct="1">
        <a:lnSpc>
          <a:spcPct val="90000"/>
        </a:lnSpc>
        <a:spcBef>
          <a:spcPct val="0"/>
        </a:spcBef>
        <a:buNone/>
        <a:defRPr sz="4050" kern="1200" cap="all" baseline="0">
          <a:solidFill>
            <a:schemeClr val="accent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60000"/>
        <a:buFont typeface="Arial" panose="020B0604020202020204" pitchFamily="34" charset="0"/>
        <a:buChar char="•"/>
        <a:defRPr sz="1500" kern="1200" cap="all" baseline="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350" kern="1200" cap="all"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200" kern="1200" cap="all" baseline="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050" kern="1200" cap="all"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050" kern="1200" cap="all" baseline="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050" kern="1200" cap="all" baseline="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050" kern="1200" cap="all" baseline="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050" kern="1200" cap="all"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60000"/>
        <a:buFont typeface="Arial" panose="020B0604020202020204" pitchFamily="34" charset="0"/>
        <a:buChar char="•"/>
        <a:defRPr sz="1050" kern="1200" cap="all"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5.png"/><Relationship Id="rId4" Type="http://schemas.openxmlformats.org/officeDocument/2006/relationships/image" Target="../media/image-2-2.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2.sv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2.sv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4763" y="985284"/>
            <a:ext cx="5918790" cy="2246769"/>
          </a:xfrm>
          <a:prstGeom prst="rect">
            <a:avLst/>
          </a:prstGeom>
          <a:noFill/>
          <a:ln w="38100">
            <a:solidFill>
              <a:srgbClr val="C00000"/>
            </a:solidFill>
          </a:ln>
          <a:effectLst>
            <a:outerShdw blurRad="50800" dist="38100" dir="8100000" algn="tr" rotWithShape="0">
              <a:prstClr val="black">
                <a:alpha val="40000"/>
              </a:prstClr>
            </a:outerShdw>
          </a:effectLst>
        </p:spPr>
        <p:txBody>
          <a:bodyPr wrap="square" rtlCol="0">
            <a:spAutoFit/>
          </a:bodyPr>
          <a:lstStyle/>
          <a:p>
            <a:endParaRPr lang="en-US" sz="2800" u="sng" dirty="0" smtClean="0"/>
          </a:p>
          <a:p>
            <a:pPr algn="ctr"/>
            <a:r>
              <a:rPr lang="en-US" sz="2800" u="sng" dirty="0"/>
              <a:t> </a:t>
            </a:r>
            <a:r>
              <a:rPr lang="en-US" sz="2800" u="sng" dirty="0" smtClean="0"/>
              <a:t>ASSIGNMENT : 1 ( PRESENTATION)</a:t>
            </a:r>
          </a:p>
          <a:p>
            <a:pPr algn="ctr"/>
            <a:endParaRPr lang="en-US" sz="2800" u="sng" dirty="0" smtClean="0"/>
          </a:p>
          <a:p>
            <a:pPr algn="ctr"/>
            <a:r>
              <a:rPr lang="en-US" sz="2800" u="sng" dirty="0" smtClean="0"/>
              <a:t>Presented By : </a:t>
            </a:r>
            <a:r>
              <a:rPr lang="en-US" sz="2800" u="sng" dirty="0" err="1" smtClean="0"/>
              <a:t>Danial</a:t>
            </a:r>
            <a:r>
              <a:rPr lang="en-US" sz="2800" u="sng" dirty="0" smtClean="0"/>
              <a:t> Zulfiqar</a:t>
            </a:r>
          </a:p>
          <a:p>
            <a:pPr algn="ctr"/>
            <a:r>
              <a:rPr lang="en-US" sz="2800" u="sng" dirty="0" smtClean="0"/>
              <a:t>Roll No : FA24-BED-020</a:t>
            </a:r>
            <a:endParaRPr lang="en-US" sz="2800" u="sng" dirty="0"/>
          </a:p>
        </p:txBody>
      </p:sp>
    </p:spTree>
    <p:extLst>
      <p:ext uri="{BB962C8B-B14F-4D97-AF65-F5344CB8AC3E}">
        <p14:creationId xmlns:p14="http://schemas.microsoft.com/office/powerpoint/2010/main" val="375906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22222"/>
          </a:solidFill>
          <a:ln w="12700">
            <a:solidFill>
              <a:srgbClr val="B22222"/>
            </a:solidFill>
            <a:prstDash val="solid"/>
          </a:ln>
        </p:spPr>
      </p:sp>
      <p:sp>
        <p:nvSpPr>
          <p:cNvPr id="3" name="Text 1"/>
          <p:cNvSpPr txBox="1"/>
          <p:nvPr/>
        </p:nvSpPr>
        <p:spPr>
          <a:xfrm>
            <a:off x="548640" y="548640"/>
            <a:ext cx="8046720" cy="822960"/>
          </a:xfrm>
          <a:prstGeom prst="rect">
            <a:avLst/>
          </a:prstGeom>
          <a:noFill/>
          <a:ln/>
        </p:spPr>
        <p:txBody>
          <a:bodyPr wrap="square" lIns="0" tIns="0" rIns="0" bIns="0" rtlCol="0" anchor="ctr"/>
          <a:lstStyle/>
          <a:p>
            <a:pPr marL="0" indent="0">
              <a:buNone/>
            </a:pPr>
            <a:r>
              <a:rPr lang="en-US" sz="3600" b="1" dirty="0">
                <a:solidFill>
                  <a:srgbClr val="1F2937"/>
                </a:solidFill>
                <a:latin typeface="Calibri" pitchFamily="34" charset="0"/>
                <a:ea typeface="Calibri" pitchFamily="34" charset="-122"/>
                <a:cs typeface="Calibri" pitchFamily="34" charset="-120"/>
              </a:rPr>
              <a:t>Who earns what in KP rural?</a:t>
            </a:r>
            <a:endParaRPr lang="en-US" sz="3600" dirty="0"/>
          </a:p>
        </p:txBody>
      </p:sp>
      <p:sp>
        <p:nvSpPr>
          <p:cNvPr id="4" name="Text 2"/>
          <p:cNvSpPr txBox="1"/>
          <p:nvPr/>
        </p:nvSpPr>
        <p:spPr>
          <a:xfrm>
            <a:off x="548640" y="1371600"/>
            <a:ext cx="8046720" cy="457200"/>
          </a:xfrm>
          <a:prstGeom prst="rect">
            <a:avLst/>
          </a:prstGeom>
          <a:noFill/>
          <a:ln/>
        </p:spPr>
        <p:txBody>
          <a:bodyPr wrap="square" lIns="0" tIns="0" rIns="0" bIns="0" rtlCol="0" anchor="ctr"/>
          <a:lstStyle/>
          <a:p>
            <a:pPr marL="0" indent="0">
              <a:buNone/>
            </a:pPr>
            <a:r>
              <a:rPr lang="en-US" sz="1600" dirty="0">
                <a:solidFill>
                  <a:srgbClr val="6B7280"/>
                </a:solidFill>
                <a:latin typeface="Calibri" pitchFamily="34" charset="0"/>
                <a:ea typeface="Calibri" pitchFamily="34" charset="-122"/>
                <a:cs typeface="Calibri" pitchFamily="34" charset="-120"/>
              </a:rPr>
              <a:t>The distribution of annual earnings and how it changes with age (PSLM 2019-20)</a:t>
            </a:r>
            <a:endParaRPr lang="en-US" sz="1600" dirty="0"/>
          </a:p>
        </p:txBody>
      </p:sp>
      <p:sp>
        <p:nvSpPr>
          <p:cNvPr id="5" name="Shape 3"/>
          <p:cNvSpPr/>
          <p:nvPr/>
        </p:nvSpPr>
        <p:spPr>
          <a:xfrm>
            <a:off x="548640" y="2148840"/>
            <a:ext cx="8046720" cy="640080"/>
          </a:xfrm>
          <a:prstGeom prst="rect">
            <a:avLst/>
          </a:prstGeom>
          <a:solidFill>
            <a:srgbClr val="F3F4F6"/>
          </a:solidFill>
          <a:ln w="12700">
            <a:solidFill>
              <a:srgbClr val="F3F4F6"/>
            </a:solidFill>
            <a:prstDash val="solid"/>
          </a:ln>
        </p:spPr>
      </p:sp>
      <p:sp>
        <p:nvSpPr>
          <p:cNvPr id="6" name="Text 4"/>
          <p:cNvSpPr txBox="1"/>
          <p:nvPr/>
        </p:nvSpPr>
        <p:spPr>
          <a:xfrm>
            <a:off x="731520" y="2148840"/>
            <a:ext cx="1463040" cy="640080"/>
          </a:xfrm>
          <a:prstGeom prst="rect">
            <a:avLst/>
          </a:prstGeom>
          <a:noFill/>
          <a:ln/>
        </p:spPr>
        <p:txBody>
          <a:bodyPr wrap="square" lIns="0" tIns="0" rIns="0" bIns="0" rtlCol="0" anchor="ctr"/>
          <a:lstStyle/>
          <a:p>
            <a:pPr marL="0" indent="0">
              <a:buNone/>
            </a:pPr>
            <a:r>
              <a:rPr lang="en-US" sz="1400" b="1" dirty="0">
                <a:solidFill>
                  <a:srgbClr val="B22222"/>
                </a:solidFill>
                <a:latin typeface="Calibri" pitchFamily="34" charset="0"/>
                <a:ea typeface="Calibri" pitchFamily="34" charset="-122"/>
                <a:cs typeface="Calibri" pitchFamily="34" charset="-120"/>
              </a:rPr>
              <a:t>My variant</a:t>
            </a:r>
            <a:endParaRPr lang="en-US" sz="1400" dirty="0"/>
          </a:p>
        </p:txBody>
      </p:sp>
      <p:sp>
        <p:nvSpPr>
          <p:cNvPr id="7" name="Text 5"/>
          <p:cNvSpPr txBox="1"/>
          <p:nvPr/>
        </p:nvSpPr>
        <p:spPr>
          <a:xfrm>
            <a:off x="2194560" y="2148840"/>
            <a:ext cx="6217920" cy="640080"/>
          </a:xfrm>
          <a:prstGeom prst="rect">
            <a:avLst/>
          </a:prstGeom>
          <a:noFill/>
          <a:ln/>
        </p:spPr>
        <p:txBody>
          <a:bodyPr wrap="square" lIns="0" tIns="0" rIns="0" bIns="0" rtlCol="0" anchor="ctr"/>
          <a:lstStyle/>
          <a:p>
            <a:pPr marL="0" indent="0">
              <a:buNone/>
            </a:pPr>
            <a:r>
              <a:rPr lang="en-US" sz="1400" dirty="0">
                <a:solidFill>
                  <a:srgbClr val="1F2937"/>
                </a:solidFill>
                <a:latin typeface="Calibri" pitchFamily="34" charset="0"/>
                <a:ea typeface="Calibri" pitchFamily="34" charset="-122"/>
                <a:cs typeface="Calibri" pitchFamily="34" charset="-120"/>
              </a:rPr>
              <a:t>Reg. no. last digits 20 = 2 x 8 + 4  -&gt;  variant 4: KP rural</a:t>
            </a:r>
            <a:endParaRPr lang="en-US" sz="1400" dirty="0"/>
          </a:p>
        </p:txBody>
      </p:sp>
      <p:sp>
        <p:nvSpPr>
          <p:cNvPr id="8" name="Shape 6"/>
          <p:cNvSpPr/>
          <p:nvPr/>
        </p:nvSpPr>
        <p:spPr>
          <a:xfrm>
            <a:off x="548640" y="2898648"/>
            <a:ext cx="8046720" cy="640080"/>
          </a:xfrm>
          <a:prstGeom prst="rect">
            <a:avLst/>
          </a:prstGeom>
          <a:solidFill>
            <a:srgbClr val="F3F4F6"/>
          </a:solidFill>
          <a:ln w="12700">
            <a:solidFill>
              <a:srgbClr val="F3F4F6"/>
            </a:solidFill>
            <a:prstDash val="solid"/>
          </a:ln>
        </p:spPr>
      </p:sp>
      <p:sp>
        <p:nvSpPr>
          <p:cNvPr id="9" name="Text 7"/>
          <p:cNvSpPr txBox="1"/>
          <p:nvPr/>
        </p:nvSpPr>
        <p:spPr>
          <a:xfrm>
            <a:off x="731520" y="2898648"/>
            <a:ext cx="1463040" cy="640080"/>
          </a:xfrm>
          <a:prstGeom prst="rect">
            <a:avLst/>
          </a:prstGeom>
          <a:noFill/>
          <a:ln/>
        </p:spPr>
        <p:txBody>
          <a:bodyPr wrap="square" lIns="0" tIns="0" rIns="0" bIns="0" rtlCol="0" anchor="ctr"/>
          <a:lstStyle/>
          <a:p>
            <a:pPr marL="0" indent="0">
              <a:buNone/>
            </a:pPr>
            <a:r>
              <a:rPr lang="en-US" sz="1400" b="1" dirty="0">
                <a:solidFill>
                  <a:srgbClr val="B22222"/>
                </a:solidFill>
                <a:latin typeface="Calibri" pitchFamily="34" charset="0"/>
                <a:ea typeface="Calibri" pitchFamily="34" charset="-122"/>
                <a:cs typeface="Calibri" pitchFamily="34" charset="-120"/>
              </a:rPr>
              <a:t>My sample</a:t>
            </a:r>
            <a:endParaRPr lang="en-US" sz="1400" dirty="0"/>
          </a:p>
        </p:txBody>
      </p:sp>
      <p:sp>
        <p:nvSpPr>
          <p:cNvPr id="10" name="Text 8"/>
          <p:cNvSpPr txBox="1"/>
          <p:nvPr/>
        </p:nvSpPr>
        <p:spPr>
          <a:xfrm>
            <a:off x="2194560" y="2898648"/>
            <a:ext cx="6217920" cy="640080"/>
          </a:xfrm>
          <a:prstGeom prst="rect">
            <a:avLst/>
          </a:prstGeom>
          <a:noFill/>
          <a:ln/>
        </p:spPr>
        <p:txBody>
          <a:bodyPr wrap="square" lIns="0" tIns="0" rIns="0" bIns="0" rtlCol="0" anchor="ctr"/>
          <a:lstStyle/>
          <a:p>
            <a:pPr marL="0" indent="0">
              <a:buNone/>
            </a:pPr>
            <a:r>
              <a:rPr lang="en-US" sz="1400" dirty="0">
                <a:solidFill>
                  <a:srgbClr val="1F2937"/>
                </a:solidFill>
                <a:latin typeface="Calibri" pitchFamily="34" charset="0"/>
                <a:ea typeface="Calibri" pitchFamily="34" charset="-122"/>
                <a:cs typeface="Calibri" pitchFamily="34" charset="-120"/>
              </a:rPr>
              <a:t>3,396 earners aged 15-64 (earn_annual &gt; 0), every statistic weighted by hhweight</a:t>
            </a:r>
            <a:endParaRPr lang="en-US" sz="1400" dirty="0"/>
          </a:p>
        </p:txBody>
      </p:sp>
      <p:sp>
        <p:nvSpPr>
          <p:cNvPr id="11" name="Shape 9"/>
          <p:cNvSpPr/>
          <p:nvPr/>
        </p:nvSpPr>
        <p:spPr>
          <a:xfrm>
            <a:off x="548640" y="3648456"/>
            <a:ext cx="8046720" cy="640080"/>
          </a:xfrm>
          <a:prstGeom prst="rect">
            <a:avLst/>
          </a:prstGeom>
          <a:solidFill>
            <a:srgbClr val="F3F4F6"/>
          </a:solidFill>
          <a:ln w="12700">
            <a:solidFill>
              <a:srgbClr val="F3F4F6"/>
            </a:solidFill>
            <a:prstDash val="solid"/>
          </a:ln>
        </p:spPr>
      </p:sp>
      <p:sp>
        <p:nvSpPr>
          <p:cNvPr id="12" name="Text 10"/>
          <p:cNvSpPr txBox="1"/>
          <p:nvPr/>
        </p:nvSpPr>
        <p:spPr>
          <a:xfrm>
            <a:off x="731520" y="3648456"/>
            <a:ext cx="1463040" cy="640080"/>
          </a:xfrm>
          <a:prstGeom prst="rect">
            <a:avLst/>
          </a:prstGeom>
          <a:noFill/>
          <a:ln/>
        </p:spPr>
        <p:txBody>
          <a:bodyPr wrap="square" lIns="0" tIns="0" rIns="0" bIns="0" rtlCol="0" anchor="ctr"/>
          <a:lstStyle/>
          <a:p>
            <a:pPr marL="0" indent="0">
              <a:buNone/>
            </a:pPr>
            <a:r>
              <a:rPr lang="en-US" sz="1400" b="1" dirty="0">
                <a:solidFill>
                  <a:srgbClr val="B22222"/>
                </a:solidFill>
                <a:latin typeface="Calibri" pitchFamily="34" charset="0"/>
                <a:ea typeface="Calibri" pitchFamily="34" charset="-122"/>
                <a:cs typeface="Calibri" pitchFamily="34" charset="-120"/>
              </a:rPr>
              <a:t>My tools</a:t>
            </a:r>
            <a:endParaRPr lang="en-US" sz="1400" dirty="0"/>
          </a:p>
        </p:txBody>
      </p:sp>
      <p:sp>
        <p:nvSpPr>
          <p:cNvPr id="13" name="Text 11"/>
          <p:cNvSpPr txBox="1"/>
          <p:nvPr/>
        </p:nvSpPr>
        <p:spPr>
          <a:xfrm>
            <a:off x="2194560" y="3648456"/>
            <a:ext cx="6217920" cy="640080"/>
          </a:xfrm>
          <a:prstGeom prst="rect">
            <a:avLst/>
          </a:prstGeom>
          <a:noFill/>
          <a:ln/>
        </p:spPr>
        <p:txBody>
          <a:bodyPr wrap="square" lIns="0" tIns="0" rIns="0" bIns="0" rtlCol="0" anchor="ctr"/>
          <a:lstStyle/>
          <a:p>
            <a:pPr marL="0" indent="0">
              <a:buNone/>
            </a:pPr>
            <a:r>
              <a:rPr lang="en-US" sz="1400" dirty="0">
                <a:solidFill>
                  <a:srgbClr val="1F2937"/>
                </a:solidFill>
                <a:latin typeface="Calibri" pitchFamily="34" charset="0"/>
                <a:ea typeface="Calibri" pitchFamily="34" charset="-122"/>
                <a:cs typeface="Calibri" pitchFamily="34" charset="-120"/>
              </a:rPr>
              <a:t>R (ggplot2, svglite) for the figures; Python (pandas, matplotlib) to reproduce the band means</a:t>
            </a:r>
            <a:endParaRPr lang="en-US" sz="1400" dirty="0"/>
          </a:p>
        </p:txBody>
      </p:sp>
      <p:sp>
        <p:nvSpPr>
          <p:cNvPr id="14" name="Text 12"/>
          <p:cNvSpPr txBox="1"/>
          <p:nvPr/>
        </p:nvSpPr>
        <p:spPr>
          <a:xfrm>
            <a:off x="548640" y="4526280"/>
            <a:ext cx="804672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Danial  |  FA24-BEDS-020  |  ECO346 Section 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22222"/>
          </a:solidFill>
          <a:ln w="12700">
            <a:solidFill>
              <a:srgbClr val="B22222"/>
            </a:solidFill>
            <a:prstDash val="solid"/>
          </a:ln>
        </p:spPr>
      </p:sp>
      <p:sp>
        <p:nvSpPr>
          <p:cNvPr id="3" name="Text 1"/>
          <p:cNvSpPr txBox="1"/>
          <p:nvPr/>
        </p:nvSpPr>
        <p:spPr>
          <a:xfrm>
            <a:off x="457200" y="228600"/>
            <a:ext cx="8229600" cy="731520"/>
          </a:xfrm>
          <a:prstGeom prst="rect">
            <a:avLst/>
          </a:prstGeom>
          <a:noFill/>
          <a:ln/>
        </p:spPr>
        <p:txBody>
          <a:bodyPr wrap="square" lIns="0" tIns="0" rIns="0" bIns="0" rtlCol="0" anchor="ctr"/>
          <a:lstStyle/>
          <a:p>
            <a:pPr marL="0" indent="0">
              <a:buNone/>
            </a:pPr>
            <a:r>
              <a:rPr lang="en-US" sz="2200" b="1" dirty="0">
                <a:solidFill>
                  <a:srgbClr val="1F2937"/>
                </a:solidFill>
                <a:latin typeface="Calibri" pitchFamily="34" charset="0"/>
                <a:ea typeface="Calibri" pitchFamily="34" charset="-122"/>
                <a:cs typeface="Calibri" pitchFamily="34" charset="-120"/>
              </a:rPr>
              <a:t>Makeover: from an unreadable cloud to an age profile</a:t>
            </a:r>
            <a:endParaRPr lang="en-US" sz="2200" dirty="0"/>
          </a:p>
        </p:txBody>
      </p:sp>
      <p:sp>
        <p:nvSpPr>
          <p:cNvPr id="4" name="Text 2"/>
          <p:cNvSpPr txBox="1"/>
          <p:nvPr/>
        </p:nvSpPr>
        <p:spPr>
          <a:xfrm>
            <a:off x="457200" y="4828032"/>
            <a:ext cx="758952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ECO346 Assignment 1 | FA24-BEDS-020 | Source: PSLM 2019-20, weighted by hhweight</a:t>
            </a:r>
            <a:endParaRPr lang="en-US" sz="900" dirty="0"/>
          </a:p>
        </p:txBody>
      </p:sp>
      <p:sp>
        <p:nvSpPr>
          <p:cNvPr id="5" name="Text 3"/>
          <p:cNvSpPr txBox="1"/>
          <p:nvPr/>
        </p:nvSpPr>
        <p:spPr>
          <a:xfrm>
            <a:off x="8321040" y="4828032"/>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Text 4"/>
          <p:cNvSpPr txBox="1"/>
          <p:nvPr/>
        </p:nvSpPr>
        <p:spPr>
          <a:xfrm>
            <a:off x="457200" y="1005840"/>
            <a:ext cx="3108960" cy="274320"/>
          </a:xfrm>
          <a:prstGeom prst="rect">
            <a:avLst/>
          </a:prstGeom>
          <a:noFill/>
          <a:ln/>
        </p:spPr>
        <p:txBody>
          <a:bodyPr wrap="square" lIns="0" tIns="0" rIns="0" bIns="0" rtlCol="0" anchor="ctr"/>
          <a:lstStyle/>
          <a:p>
            <a:pPr marL="0" indent="0">
              <a:buNone/>
            </a:pPr>
            <a:r>
              <a:rPr lang="en-US" sz="1400" b="1" dirty="0">
                <a:solidFill>
                  <a:srgbClr val="6B7280"/>
                </a:solidFill>
                <a:latin typeface="Calibri" pitchFamily="34" charset="0"/>
                <a:ea typeface="Calibri" pitchFamily="34" charset="-122"/>
                <a:cs typeface="Calibri" pitchFamily="34" charset="-120"/>
              </a:rPr>
              <a:t>R default</a:t>
            </a:r>
            <a:endParaRPr lang="en-US" sz="1400" dirty="0"/>
          </a:p>
        </p:txBody>
      </p:sp>
      <p:pic>
        <p:nvPicPr>
          <p:cNvPr id="7" name="Image 0" descr="R default scatterplot of earnings against age"/>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57200" y="1280160"/>
            <a:ext cx="2743200" cy="2743200"/>
          </a:xfrm>
          <a:prstGeom prst="rect">
            <a:avLst/>
          </a:prstGeom>
        </p:spPr>
      </p:pic>
      <p:sp>
        <p:nvSpPr>
          <p:cNvPr id="8" name="Text 5"/>
          <p:cNvSpPr txBox="1"/>
          <p:nvPr/>
        </p:nvSpPr>
        <p:spPr>
          <a:xfrm>
            <a:off x="3566160" y="1005840"/>
            <a:ext cx="3108960" cy="274320"/>
          </a:xfrm>
          <a:prstGeom prst="rect">
            <a:avLst/>
          </a:prstGeom>
          <a:noFill/>
          <a:ln/>
        </p:spPr>
        <p:txBody>
          <a:bodyPr wrap="square" lIns="0" tIns="0" rIns="0" bIns="0" rtlCol="0" anchor="ctr"/>
          <a:lstStyle/>
          <a:p>
            <a:pPr marL="0" indent="0">
              <a:buNone/>
            </a:pPr>
            <a:r>
              <a:rPr lang="en-US" sz="1400" b="1" dirty="0">
                <a:solidFill>
                  <a:srgbClr val="B22222"/>
                </a:solidFill>
                <a:latin typeface="Calibri" pitchFamily="34" charset="0"/>
                <a:ea typeface="Calibri" pitchFamily="34" charset="-122"/>
                <a:cs typeface="Calibri" pitchFamily="34" charset="-120"/>
              </a:rPr>
              <a:t>Redesign</a:t>
            </a:r>
            <a:endParaRPr lang="en-US" sz="1400" dirty="0"/>
          </a:p>
        </p:txBody>
      </p:sp>
      <p:pic>
        <p:nvPicPr>
          <p:cNvPr id="9" name="Image 1" descr="Redesigned figure: log axis, jittered transparent points, weighted band means"/>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3566160" y="1280160"/>
            <a:ext cx="5120640" cy="3129280"/>
          </a:xfrm>
          <a:prstGeom prst="rect">
            <a:avLst/>
          </a:prstGeom>
        </p:spPr>
      </p:pic>
      <p:sp>
        <p:nvSpPr>
          <p:cNvPr id="10" name="Text 6"/>
          <p:cNvSpPr txBox="1"/>
          <p:nvPr/>
        </p:nvSpPr>
        <p:spPr>
          <a:xfrm>
            <a:off x="457200" y="4343400"/>
            <a:ext cx="8229600" cy="411480"/>
          </a:xfrm>
          <a:prstGeom prst="rect">
            <a:avLst/>
          </a:prstGeom>
          <a:noFill/>
          <a:ln/>
        </p:spPr>
        <p:txBody>
          <a:bodyPr wrap="square" lIns="0" tIns="0" rIns="0" bIns="0" rtlCol="0" anchor="ctr"/>
          <a:lstStyle/>
          <a:p>
            <a:pPr marL="0" indent="0">
              <a:buNone/>
            </a:pPr>
            <a:r>
              <a:rPr lang="en-US" sz="1300" b="1" dirty="0">
                <a:solidFill>
                  <a:srgbClr val="B22222"/>
                </a:solidFill>
                <a:latin typeface="Calibri" pitchFamily="34" charset="0"/>
                <a:ea typeface="Calibri" pitchFamily="34" charset="-122"/>
                <a:cs typeface="Calibri" pitchFamily="34" charset="-120"/>
              </a:rPr>
              <a:t>Log axis</a:t>
            </a:r>
            <a:r>
              <a:rPr lang="en-US" sz="1300" dirty="0">
                <a:solidFill>
                  <a:srgbClr val="1F2937"/>
                </a:solidFill>
                <a:latin typeface="Calibri" pitchFamily="34" charset="0"/>
                <a:ea typeface="Calibri" pitchFamily="34" charset="-122"/>
                <a:cs typeface="Calibri" pitchFamily="34" charset="-120"/>
              </a:rPr>
              <a:t> (skew)   </a:t>
            </a:r>
            <a:r>
              <a:rPr lang="en-US" sz="1300" b="1" dirty="0">
                <a:solidFill>
                  <a:srgbClr val="B22222"/>
                </a:solidFill>
                <a:latin typeface="Calibri" pitchFamily="34" charset="0"/>
                <a:ea typeface="Calibri" pitchFamily="34" charset="-122"/>
                <a:cs typeface="Calibri" pitchFamily="34" charset="-120"/>
              </a:rPr>
              <a:t>Alpha + jitter</a:t>
            </a:r>
            <a:r>
              <a:rPr lang="en-US" sz="1300" dirty="0">
                <a:solidFill>
                  <a:srgbClr val="1F2937"/>
                </a:solidFill>
                <a:latin typeface="Calibri" pitchFamily="34" charset="0"/>
                <a:ea typeface="Calibri" pitchFamily="34" charset="-122"/>
                <a:cs typeface="Calibri" pitchFamily="34" charset="-120"/>
              </a:rPr>
              <a:t> (overplotting)   </a:t>
            </a:r>
            <a:r>
              <a:rPr lang="en-US" sz="1300" b="1" dirty="0">
                <a:solidFill>
                  <a:srgbClr val="B22222"/>
                </a:solidFill>
                <a:latin typeface="Calibri" pitchFamily="34" charset="0"/>
                <a:ea typeface="Calibri" pitchFamily="34" charset="-122"/>
                <a:cs typeface="Calibri" pitchFamily="34" charset="-120"/>
              </a:rPr>
              <a:t>Band means + annotation</a:t>
            </a:r>
            <a:r>
              <a:rPr lang="en-US" sz="1300" dirty="0">
                <a:solidFill>
                  <a:srgbClr val="1F2937"/>
                </a:solidFill>
                <a:latin typeface="Calibri" pitchFamily="34" charset="0"/>
                <a:ea typeface="Calibri" pitchFamily="34" charset="-122"/>
                <a:cs typeface="Calibri" pitchFamily="34" charset="-120"/>
              </a:rPr>
              <a:t> (conditional means, position on a common scale)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22222"/>
          </a:solidFill>
          <a:ln w="12700">
            <a:solidFill>
              <a:srgbClr val="B22222"/>
            </a:solidFill>
            <a:prstDash val="solid"/>
          </a:ln>
        </p:spPr>
      </p:sp>
      <p:sp>
        <p:nvSpPr>
          <p:cNvPr id="3" name="Text 1"/>
          <p:cNvSpPr txBox="1"/>
          <p:nvPr/>
        </p:nvSpPr>
        <p:spPr>
          <a:xfrm>
            <a:off x="457200" y="228600"/>
            <a:ext cx="8229600" cy="731520"/>
          </a:xfrm>
          <a:prstGeom prst="rect">
            <a:avLst/>
          </a:prstGeom>
          <a:noFill/>
          <a:ln/>
        </p:spPr>
        <p:txBody>
          <a:bodyPr wrap="square" lIns="0" tIns="0" rIns="0" bIns="0" rtlCol="0" anchor="ctr"/>
          <a:lstStyle/>
          <a:p>
            <a:pPr marL="0" indent="0">
              <a:buNone/>
            </a:pPr>
            <a:r>
              <a:rPr lang="en-US" sz="2200" b="1" dirty="0">
                <a:solidFill>
                  <a:srgbClr val="1F2937"/>
                </a:solidFill>
                <a:latin typeface="Calibri" pitchFamily="34" charset="0"/>
                <a:ea typeface="Calibri" pitchFamily="34" charset="-122"/>
                <a:cs typeface="Calibri" pitchFamily="34" charset="-120"/>
              </a:rPr>
              <a:t>Top-decile cutoff is 6.51 times the bottom-decile cutoff</a:t>
            </a:r>
            <a:endParaRPr lang="en-US" sz="2200" dirty="0"/>
          </a:p>
        </p:txBody>
      </p:sp>
      <p:sp>
        <p:nvSpPr>
          <p:cNvPr id="4" name="Text 2"/>
          <p:cNvSpPr txBox="1"/>
          <p:nvPr/>
        </p:nvSpPr>
        <p:spPr>
          <a:xfrm>
            <a:off x="457200" y="4828032"/>
            <a:ext cx="758952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ECO346 Assignment 1 | FA24-BEDS-020 | Source: PSLM 2019-20, weighted by hhweight</a:t>
            </a:r>
            <a:endParaRPr lang="en-US" sz="900" dirty="0"/>
          </a:p>
        </p:txBody>
      </p:sp>
      <p:sp>
        <p:nvSpPr>
          <p:cNvPr id="5" name="Text 3"/>
          <p:cNvSpPr txBox="1"/>
          <p:nvPr/>
        </p:nvSpPr>
        <p:spPr>
          <a:xfrm>
            <a:off x="8321040" y="4828032"/>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pic>
        <p:nvPicPr>
          <p:cNvPr id="6" name="Image 0" descr="Weighted histogram of annual earnings on a log scale"/>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57200" y="1051560"/>
            <a:ext cx="5486400" cy="3352800"/>
          </a:xfrm>
          <a:prstGeom prst="rect">
            <a:avLst/>
          </a:prstGeom>
        </p:spPr>
      </p:pic>
      <p:sp>
        <p:nvSpPr>
          <p:cNvPr id="7" name="Shape 4"/>
          <p:cNvSpPr/>
          <p:nvPr/>
        </p:nvSpPr>
        <p:spPr>
          <a:xfrm>
            <a:off x="6217920" y="1097280"/>
            <a:ext cx="2468880" cy="402336"/>
          </a:xfrm>
          <a:prstGeom prst="rect">
            <a:avLst/>
          </a:prstGeom>
          <a:solidFill>
            <a:srgbClr val="F3F4F6"/>
          </a:solidFill>
          <a:ln w="12700">
            <a:solidFill>
              <a:srgbClr val="FFFFFF"/>
            </a:solidFill>
            <a:prstDash val="solid"/>
          </a:ln>
        </p:spPr>
      </p:sp>
      <p:sp>
        <p:nvSpPr>
          <p:cNvPr id="8" name="Text 5"/>
          <p:cNvSpPr txBox="1"/>
          <p:nvPr/>
        </p:nvSpPr>
        <p:spPr>
          <a:xfrm>
            <a:off x="6309360" y="1097280"/>
            <a:ext cx="1371600" cy="402336"/>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Earners</a:t>
            </a:r>
            <a:endParaRPr lang="en-US" sz="1050" dirty="0"/>
          </a:p>
        </p:txBody>
      </p:sp>
      <p:sp>
        <p:nvSpPr>
          <p:cNvPr id="9" name="Text 6"/>
          <p:cNvSpPr txBox="1"/>
          <p:nvPr/>
        </p:nvSpPr>
        <p:spPr>
          <a:xfrm>
            <a:off x="7589520" y="1097280"/>
            <a:ext cx="1051560" cy="402336"/>
          </a:xfrm>
          <a:prstGeom prst="rect">
            <a:avLst/>
          </a:prstGeom>
          <a:noFill/>
          <a:ln/>
        </p:spPr>
        <p:txBody>
          <a:bodyPr wrap="square" lIns="0" tIns="0" rIns="0" bIns="0" rtlCol="0" anchor="ctr"/>
          <a:lstStyle/>
          <a:p>
            <a:pPr marL="0" indent="0" algn="r">
              <a:buNone/>
            </a:pPr>
            <a:r>
              <a:rPr lang="en-US" sz="1150" b="1" dirty="0">
                <a:solidFill>
                  <a:srgbClr val="1F2937"/>
                </a:solidFill>
                <a:latin typeface="Calibri" pitchFamily="34" charset="0"/>
                <a:ea typeface="Calibri" pitchFamily="34" charset="-122"/>
                <a:cs typeface="Calibri" pitchFamily="34" charset="-120"/>
              </a:rPr>
              <a:t>3,396</a:t>
            </a:r>
            <a:endParaRPr lang="en-US" sz="1150" dirty="0"/>
          </a:p>
        </p:txBody>
      </p:sp>
      <p:sp>
        <p:nvSpPr>
          <p:cNvPr id="10" name="Shape 7"/>
          <p:cNvSpPr/>
          <p:nvPr/>
        </p:nvSpPr>
        <p:spPr>
          <a:xfrm>
            <a:off x="6217920" y="1554480"/>
            <a:ext cx="2468880" cy="402336"/>
          </a:xfrm>
          <a:prstGeom prst="rect">
            <a:avLst/>
          </a:prstGeom>
          <a:solidFill>
            <a:srgbClr val="F3F4F6"/>
          </a:solidFill>
          <a:ln w="12700">
            <a:solidFill>
              <a:srgbClr val="FFFFFF"/>
            </a:solidFill>
            <a:prstDash val="solid"/>
          </a:ln>
        </p:spPr>
      </p:sp>
      <p:sp>
        <p:nvSpPr>
          <p:cNvPr id="11" name="Text 8"/>
          <p:cNvSpPr txBox="1"/>
          <p:nvPr/>
        </p:nvSpPr>
        <p:spPr>
          <a:xfrm>
            <a:off x="6309360" y="1554480"/>
            <a:ext cx="1371600" cy="402336"/>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Weighted median</a:t>
            </a:r>
            <a:endParaRPr lang="en-US" sz="1050" dirty="0"/>
          </a:p>
        </p:txBody>
      </p:sp>
      <p:sp>
        <p:nvSpPr>
          <p:cNvPr id="12" name="Text 9"/>
          <p:cNvSpPr txBox="1"/>
          <p:nvPr/>
        </p:nvSpPr>
        <p:spPr>
          <a:xfrm>
            <a:off x="7589520" y="1554480"/>
            <a:ext cx="1051560" cy="402336"/>
          </a:xfrm>
          <a:prstGeom prst="rect">
            <a:avLst/>
          </a:prstGeom>
          <a:noFill/>
          <a:ln/>
        </p:spPr>
        <p:txBody>
          <a:bodyPr wrap="square" lIns="0" tIns="0" rIns="0" bIns="0" rtlCol="0" anchor="ctr"/>
          <a:lstStyle/>
          <a:p>
            <a:pPr marL="0" indent="0" algn="r">
              <a:buNone/>
            </a:pPr>
            <a:r>
              <a:rPr lang="en-US" sz="1150" b="1" dirty="0">
                <a:solidFill>
                  <a:srgbClr val="1F2937"/>
                </a:solidFill>
                <a:latin typeface="Calibri" pitchFamily="34" charset="0"/>
                <a:ea typeface="Calibri" pitchFamily="34" charset="-122"/>
                <a:cs typeface="Calibri" pitchFamily="34" charset="-120"/>
              </a:rPr>
              <a:t>Rs 187,200</a:t>
            </a:r>
            <a:endParaRPr lang="en-US" sz="1150" dirty="0"/>
          </a:p>
        </p:txBody>
      </p:sp>
      <p:sp>
        <p:nvSpPr>
          <p:cNvPr id="13" name="Shape 10"/>
          <p:cNvSpPr/>
          <p:nvPr/>
        </p:nvSpPr>
        <p:spPr>
          <a:xfrm>
            <a:off x="6217920" y="2011680"/>
            <a:ext cx="2468880" cy="402336"/>
          </a:xfrm>
          <a:prstGeom prst="rect">
            <a:avLst/>
          </a:prstGeom>
          <a:solidFill>
            <a:srgbClr val="F3F4F6"/>
          </a:solidFill>
          <a:ln w="12700">
            <a:solidFill>
              <a:srgbClr val="FFFFFF"/>
            </a:solidFill>
            <a:prstDash val="solid"/>
          </a:ln>
        </p:spPr>
      </p:sp>
      <p:sp>
        <p:nvSpPr>
          <p:cNvPr id="14" name="Text 11"/>
          <p:cNvSpPr txBox="1"/>
          <p:nvPr/>
        </p:nvSpPr>
        <p:spPr>
          <a:xfrm>
            <a:off x="6309360" y="2011680"/>
            <a:ext cx="1371600" cy="402336"/>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Unweighted median</a:t>
            </a:r>
            <a:endParaRPr lang="en-US" sz="1050" dirty="0"/>
          </a:p>
        </p:txBody>
      </p:sp>
      <p:sp>
        <p:nvSpPr>
          <p:cNvPr id="15" name="Text 12"/>
          <p:cNvSpPr txBox="1"/>
          <p:nvPr/>
        </p:nvSpPr>
        <p:spPr>
          <a:xfrm>
            <a:off x="7589520" y="2011680"/>
            <a:ext cx="1051560" cy="402336"/>
          </a:xfrm>
          <a:prstGeom prst="rect">
            <a:avLst/>
          </a:prstGeom>
          <a:noFill/>
          <a:ln/>
        </p:spPr>
        <p:txBody>
          <a:bodyPr wrap="square" lIns="0" tIns="0" rIns="0" bIns="0" rtlCol="0" anchor="ctr"/>
          <a:lstStyle/>
          <a:p>
            <a:pPr marL="0" indent="0" algn="r">
              <a:buNone/>
            </a:pPr>
            <a:r>
              <a:rPr lang="en-US" sz="1150" b="1" dirty="0">
                <a:solidFill>
                  <a:srgbClr val="1F2937"/>
                </a:solidFill>
                <a:latin typeface="Calibri" pitchFamily="34" charset="0"/>
                <a:ea typeface="Calibri" pitchFamily="34" charset="-122"/>
                <a:cs typeface="Calibri" pitchFamily="34" charset="-120"/>
              </a:rPr>
              <a:t>Rs 180,000</a:t>
            </a:r>
            <a:endParaRPr lang="en-US" sz="1150" dirty="0"/>
          </a:p>
        </p:txBody>
      </p:sp>
      <p:sp>
        <p:nvSpPr>
          <p:cNvPr id="16" name="Shape 13"/>
          <p:cNvSpPr/>
          <p:nvPr/>
        </p:nvSpPr>
        <p:spPr>
          <a:xfrm>
            <a:off x="6217920" y="2468880"/>
            <a:ext cx="2468880" cy="402336"/>
          </a:xfrm>
          <a:prstGeom prst="rect">
            <a:avLst/>
          </a:prstGeom>
          <a:solidFill>
            <a:srgbClr val="F3F4F6"/>
          </a:solidFill>
          <a:ln w="12700">
            <a:solidFill>
              <a:srgbClr val="FFFFFF"/>
            </a:solidFill>
            <a:prstDash val="solid"/>
          </a:ln>
        </p:spPr>
      </p:sp>
      <p:sp>
        <p:nvSpPr>
          <p:cNvPr id="17" name="Text 14"/>
          <p:cNvSpPr txBox="1"/>
          <p:nvPr/>
        </p:nvSpPr>
        <p:spPr>
          <a:xfrm>
            <a:off x="6309360" y="2468880"/>
            <a:ext cx="1371600" cy="402336"/>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10th percentile</a:t>
            </a:r>
            <a:endParaRPr lang="en-US" sz="1050" dirty="0"/>
          </a:p>
        </p:txBody>
      </p:sp>
      <p:sp>
        <p:nvSpPr>
          <p:cNvPr id="18" name="Text 15"/>
          <p:cNvSpPr txBox="1"/>
          <p:nvPr/>
        </p:nvSpPr>
        <p:spPr>
          <a:xfrm>
            <a:off x="7589520" y="2468880"/>
            <a:ext cx="1051560" cy="402336"/>
          </a:xfrm>
          <a:prstGeom prst="rect">
            <a:avLst/>
          </a:prstGeom>
          <a:noFill/>
          <a:ln/>
        </p:spPr>
        <p:txBody>
          <a:bodyPr wrap="square" lIns="0" tIns="0" rIns="0" bIns="0" rtlCol="0" anchor="ctr"/>
          <a:lstStyle/>
          <a:p>
            <a:pPr marL="0" indent="0" algn="r">
              <a:buNone/>
            </a:pPr>
            <a:r>
              <a:rPr lang="en-US" sz="1150" b="1" dirty="0">
                <a:solidFill>
                  <a:srgbClr val="1F2937"/>
                </a:solidFill>
                <a:latin typeface="Calibri" pitchFamily="34" charset="0"/>
                <a:ea typeface="Calibri" pitchFamily="34" charset="-122"/>
                <a:cs typeface="Calibri" pitchFamily="34" charset="-120"/>
              </a:rPr>
              <a:t>Rs 70,000</a:t>
            </a:r>
            <a:endParaRPr lang="en-US" sz="1150" dirty="0"/>
          </a:p>
        </p:txBody>
      </p:sp>
      <p:sp>
        <p:nvSpPr>
          <p:cNvPr id="19" name="Shape 16"/>
          <p:cNvSpPr/>
          <p:nvPr/>
        </p:nvSpPr>
        <p:spPr>
          <a:xfrm>
            <a:off x="6217920" y="2926080"/>
            <a:ext cx="2468880" cy="402336"/>
          </a:xfrm>
          <a:prstGeom prst="rect">
            <a:avLst/>
          </a:prstGeom>
          <a:solidFill>
            <a:srgbClr val="F3F4F6"/>
          </a:solidFill>
          <a:ln w="12700">
            <a:solidFill>
              <a:srgbClr val="FFFFFF"/>
            </a:solidFill>
            <a:prstDash val="solid"/>
          </a:ln>
        </p:spPr>
      </p:sp>
      <p:sp>
        <p:nvSpPr>
          <p:cNvPr id="20" name="Text 17"/>
          <p:cNvSpPr txBox="1"/>
          <p:nvPr/>
        </p:nvSpPr>
        <p:spPr>
          <a:xfrm>
            <a:off x="6309360" y="2926080"/>
            <a:ext cx="1371600" cy="402336"/>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90th percentile</a:t>
            </a:r>
            <a:endParaRPr lang="en-US" sz="1050" dirty="0"/>
          </a:p>
        </p:txBody>
      </p:sp>
      <p:sp>
        <p:nvSpPr>
          <p:cNvPr id="21" name="Text 18"/>
          <p:cNvSpPr txBox="1"/>
          <p:nvPr/>
        </p:nvSpPr>
        <p:spPr>
          <a:xfrm>
            <a:off x="7589520" y="2926080"/>
            <a:ext cx="1051560" cy="402336"/>
          </a:xfrm>
          <a:prstGeom prst="rect">
            <a:avLst/>
          </a:prstGeom>
          <a:noFill/>
          <a:ln/>
        </p:spPr>
        <p:txBody>
          <a:bodyPr wrap="square" lIns="0" tIns="0" rIns="0" bIns="0" rtlCol="0" anchor="ctr"/>
          <a:lstStyle/>
          <a:p>
            <a:pPr marL="0" indent="0" algn="r">
              <a:buNone/>
            </a:pPr>
            <a:r>
              <a:rPr lang="en-US" sz="1150" b="1" dirty="0">
                <a:solidFill>
                  <a:srgbClr val="1F2937"/>
                </a:solidFill>
                <a:latin typeface="Calibri" pitchFamily="34" charset="0"/>
                <a:ea typeface="Calibri" pitchFamily="34" charset="-122"/>
                <a:cs typeface="Calibri" pitchFamily="34" charset="-120"/>
              </a:rPr>
              <a:t>Rs 456,000</a:t>
            </a:r>
            <a:endParaRPr lang="en-US" sz="1150" dirty="0"/>
          </a:p>
        </p:txBody>
      </p:sp>
      <p:sp>
        <p:nvSpPr>
          <p:cNvPr id="22" name="Shape 19"/>
          <p:cNvSpPr/>
          <p:nvPr/>
        </p:nvSpPr>
        <p:spPr>
          <a:xfrm>
            <a:off x="6217920" y="3383280"/>
            <a:ext cx="2468880" cy="402336"/>
          </a:xfrm>
          <a:prstGeom prst="rect">
            <a:avLst/>
          </a:prstGeom>
          <a:solidFill>
            <a:srgbClr val="FBE9E9"/>
          </a:solidFill>
          <a:ln w="12700">
            <a:solidFill>
              <a:srgbClr val="FFFFFF"/>
            </a:solidFill>
            <a:prstDash val="solid"/>
          </a:ln>
        </p:spPr>
      </p:sp>
      <p:sp>
        <p:nvSpPr>
          <p:cNvPr id="23" name="Text 20"/>
          <p:cNvSpPr txBox="1"/>
          <p:nvPr/>
        </p:nvSpPr>
        <p:spPr>
          <a:xfrm>
            <a:off x="6309360" y="3383280"/>
            <a:ext cx="1371600" cy="402336"/>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p90 / p10</a:t>
            </a:r>
            <a:endParaRPr lang="en-US" sz="1050" dirty="0"/>
          </a:p>
        </p:txBody>
      </p:sp>
      <p:sp>
        <p:nvSpPr>
          <p:cNvPr id="24" name="Text 21"/>
          <p:cNvSpPr txBox="1"/>
          <p:nvPr/>
        </p:nvSpPr>
        <p:spPr>
          <a:xfrm>
            <a:off x="7589520" y="3383280"/>
            <a:ext cx="1051560" cy="402336"/>
          </a:xfrm>
          <a:prstGeom prst="rect">
            <a:avLst/>
          </a:prstGeom>
          <a:noFill/>
          <a:ln/>
        </p:spPr>
        <p:txBody>
          <a:bodyPr wrap="square" lIns="0" tIns="0" rIns="0" bIns="0" rtlCol="0" anchor="ctr"/>
          <a:lstStyle/>
          <a:p>
            <a:pPr marL="0" indent="0" algn="r">
              <a:buNone/>
            </a:pPr>
            <a:r>
              <a:rPr lang="en-US" sz="1150" b="1" dirty="0">
                <a:solidFill>
                  <a:srgbClr val="1F2937"/>
                </a:solidFill>
                <a:latin typeface="Calibri" pitchFamily="34" charset="0"/>
                <a:ea typeface="Calibri" pitchFamily="34" charset="-122"/>
                <a:cs typeface="Calibri" pitchFamily="34" charset="-120"/>
              </a:rPr>
              <a:t>6.51</a:t>
            </a:r>
            <a:endParaRPr lang="en-US" sz="1150" dirty="0"/>
          </a:p>
        </p:txBody>
      </p:sp>
      <p:sp>
        <p:nvSpPr>
          <p:cNvPr id="25" name="Shape 22"/>
          <p:cNvSpPr/>
          <p:nvPr/>
        </p:nvSpPr>
        <p:spPr>
          <a:xfrm>
            <a:off x="6217920" y="3840480"/>
            <a:ext cx="2468880" cy="402336"/>
          </a:xfrm>
          <a:prstGeom prst="rect">
            <a:avLst/>
          </a:prstGeom>
          <a:solidFill>
            <a:srgbClr val="F3F4F6"/>
          </a:solidFill>
          <a:ln w="12700">
            <a:solidFill>
              <a:srgbClr val="FFFFFF"/>
            </a:solidFill>
            <a:prstDash val="solid"/>
          </a:ln>
        </p:spPr>
      </p:sp>
      <p:sp>
        <p:nvSpPr>
          <p:cNvPr id="26" name="Text 23"/>
          <p:cNvSpPr txBox="1"/>
          <p:nvPr/>
        </p:nvSpPr>
        <p:spPr>
          <a:xfrm>
            <a:off x="6309360" y="3840480"/>
            <a:ext cx="1371600" cy="402336"/>
          </a:xfrm>
          <a:prstGeom prst="rect">
            <a:avLst/>
          </a:prstGeom>
          <a:noFill/>
          <a:ln/>
        </p:spPr>
        <p:txBody>
          <a:bodyPr wrap="square" lIns="0" tIns="0" rIns="0" bIns="0" rtlCol="0" anchor="ctr"/>
          <a:lstStyle/>
          <a:p>
            <a:pPr marL="0" indent="0">
              <a:buNone/>
            </a:pPr>
            <a:r>
              <a:rPr lang="en-US" sz="1050" dirty="0">
                <a:solidFill>
                  <a:srgbClr val="6B7280"/>
                </a:solidFill>
                <a:latin typeface="Calibri" pitchFamily="34" charset="0"/>
                <a:ea typeface="Calibri" pitchFamily="34" charset="-122"/>
                <a:cs typeface="Calibri" pitchFamily="34" charset="-120"/>
              </a:rPr>
              <a:t>Excluded from histogram</a:t>
            </a:r>
            <a:endParaRPr lang="en-US" sz="1050" dirty="0"/>
          </a:p>
        </p:txBody>
      </p:sp>
      <p:sp>
        <p:nvSpPr>
          <p:cNvPr id="27" name="Text 24"/>
          <p:cNvSpPr txBox="1"/>
          <p:nvPr/>
        </p:nvSpPr>
        <p:spPr>
          <a:xfrm>
            <a:off x="7589520" y="3840480"/>
            <a:ext cx="1051560" cy="402336"/>
          </a:xfrm>
          <a:prstGeom prst="rect">
            <a:avLst/>
          </a:prstGeom>
          <a:noFill/>
          <a:ln/>
        </p:spPr>
        <p:txBody>
          <a:bodyPr wrap="square" lIns="0" tIns="0" rIns="0" bIns="0" rtlCol="0" anchor="ctr"/>
          <a:lstStyle/>
          <a:p>
            <a:pPr marL="0" indent="0" algn="r">
              <a:buNone/>
            </a:pPr>
            <a:r>
              <a:rPr lang="en-US" sz="1150" b="1" dirty="0">
                <a:solidFill>
                  <a:srgbClr val="1F2937"/>
                </a:solidFill>
                <a:latin typeface="Calibri" pitchFamily="34" charset="0"/>
                <a:ea typeface="Calibri" pitchFamily="34" charset="-122"/>
                <a:cs typeface="Calibri" pitchFamily="34" charset="-120"/>
              </a:rPr>
              <a:t>13</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B22222"/>
          </a:solidFill>
          <a:ln w="12700">
            <a:solidFill>
              <a:srgbClr val="B22222"/>
            </a:solidFill>
            <a:prstDash val="solid"/>
          </a:ln>
        </p:spPr>
      </p:sp>
      <p:sp>
        <p:nvSpPr>
          <p:cNvPr id="3" name="Text 1"/>
          <p:cNvSpPr txBox="1"/>
          <p:nvPr/>
        </p:nvSpPr>
        <p:spPr>
          <a:xfrm>
            <a:off x="457200" y="228600"/>
            <a:ext cx="8229600" cy="731520"/>
          </a:xfrm>
          <a:prstGeom prst="rect">
            <a:avLst/>
          </a:prstGeom>
          <a:noFill/>
          <a:ln/>
        </p:spPr>
        <p:txBody>
          <a:bodyPr wrap="square" lIns="0" tIns="0" rIns="0" bIns="0" rtlCol="0" anchor="ctr"/>
          <a:lstStyle/>
          <a:p>
            <a:pPr marL="0" indent="0">
              <a:buNone/>
            </a:pPr>
            <a:r>
              <a:rPr lang="en-US" sz="2200" b="1" dirty="0">
                <a:solidFill>
                  <a:srgbClr val="1F2937"/>
                </a:solidFill>
                <a:latin typeface="Calibri" pitchFamily="34" charset="0"/>
                <a:ea typeface="Calibri" pitchFamily="34" charset="-122"/>
                <a:cs typeface="Calibri" pitchFamily="34" charset="-120"/>
              </a:rPr>
              <a:t>Earnings peak at ages 50-54; same-age gaps are larger</a:t>
            </a:r>
            <a:endParaRPr lang="en-US" sz="2200" dirty="0"/>
          </a:p>
        </p:txBody>
      </p:sp>
      <p:sp>
        <p:nvSpPr>
          <p:cNvPr id="4" name="Text 2"/>
          <p:cNvSpPr txBox="1"/>
          <p:nvPr/>
        </p:nvSpPr>
        <p:spPr>
          <a:xfrm>
            <a:off x="457200" y="4828032"/>
            <a:ext cx="7589520" cy="228600"/>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ECO346 Assignment 1 | FA24-BEDS-020 | Source: PSLM 2019-20, weighted by hhweight</a:t>
            </a:r>
            <a:endParaRPr lang="en-US" sz="900" dirty="0"/>
          </a:p>
        </p:txBody>
      </p:sp>
      <p:sp>
        <p:nvSpPr>
          <p:cNvPr id="5" name="Text 3"/>
          <p:cNvSpPr txBox="1"/>
          <p:nvPr/>
        </p:nvSpPr>
        <p:spPr>
          <a:xfrm>
            <a:off x="8321040" y="4828032"/>
            <a:ext cx="365760" cy="22860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pic>
        <p:nvPicPr>
          <p:cNvPr id="6" name="Image 0" descr="Earnings against age with weighted band means"/>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57200" y="1051560"/>
            <a:ext cx="5486400" cy="3352800"/>
          </a:xfrm>
          <a:prstGeom prst="rect">
            <a:avLst/>
          </a:prstGeom>
        </p:spPr>
      </p:pic>
      <p:sp>
        <p:nvSpPr>
          <p:cNvPr id="7" name="Text 4"/>
          <p:cNvSpPr txBox="1"/>
          <p:nvPr/>
        </p:nvSpPr>
        <p:spPr>
          <a:xfrm>
            <a:off x="6217920" y="1097280"/>
            <a:ext cx="2468880" cy="320040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Mean rises from Rs 141,017 (15-19) to Rs 352,522 (50-54).</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Age gain is 2.5x; the p90/p10 gap is 6.51x.</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Cannot tell: one cross-section, so age is mixed with cohort.</a:t>
            </a:r>
            <a:endParaRPr lang="en-US" sz="1300" dirty="0"/>
          </a:p>
          <a:p>
            <a:pPr marL="342900" indent="-342900">
              <a:spcAft>
                <a:spcPts val="1000"/>
              </a:spcAft>
              <a:buSzPct val="100000"/>
              <a:buChar char="•"/>
            </a:pPr>
            <a:r>
              <a:rPr lang="en-US" sz="1300" dirty="0">
                <a:solidFill>
                  <a:srgbClr val="1F2937"/>
                </a:solidFill>
                <a:latin typeface="Calibri" pitchFamily="34" charset="0"/>
                <a:ea typeface="Calibri" pitchFamily="34" charset="-122"/>
                <a:cs typeface="Calibri" pitchFamily="34" charset="-120"/>
              </a:rPr>
              <a:t>Python reproduces the bands to the rupee (25-29: Rs 245,584).</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614"/>
            <a:ext cx="9144000" cy="5142271"/>
          </a:xfrm>
          <a:prstGeom prst="rect">
            <a:avLst/>
          </a:prstGeom>
        </p:spPr>
      </p:pic>
    </p:spTree>
    <p:extLst>
      <p:ext uri="{BB962C8B-B14F-4D97-AF65-F5344CB8AC3E}">
        <p14:creationId xmlns:p14="http://schemas.microsoft.com/office/powerpoint/2010/main" val="3500131495"/>
      </p:ext>
    </p:extLst>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TM16401371[[fn=Atlas]]</Template>
  <TotalTime>21</TotalTime>
  <Words>675</Words>
  <Application>Microsoft Office PowerPoint</Application>
  <PresentationFormat>On-screen Show (16:9)</PresentationFormat>
  <Paragraphs>52</Paragraphs>
  <Slides>6</Slides>
  <Notes>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vt:i4>
      </vt:variant>
    </vt:vector>
  </HeadingPairs>
  <TitlesOfParts>
    <vt:vector size="14" baseType="lpstr">
      <vt:lpstr>Arial</vt:lpstr>
      <vt:lpstr>Calibri</vt:lpstr>
      <vt:lpstr>Calibri Light</vt:lpstr>
      <vt:lpstr>Impact</vt:lpstr>
      <vt:lpstr>Rockwell</vt:lpstr>
      <vt:lpstr>Wingdings</vt:lpstr>
      <vt:lpstr>Atlas</vt:lpstr>
      <vt:lpstr>Main Event</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ECO346 Assignment 1 - FA24-BEDS-020</dc:title>
  <dc:subject>PptxGenJS Presentation</dc:subject>
  <dc:creator>Danial</dc:creator>
  <cp:lastModifiedBy>T490S</cp:lastModifiedBy>
  <cp:revision>3</cp:revision>
  <dcterms:created xsi:type="dcterms:W3CDTF">2026-10-25T13:17:37Z</dcterms:created>
  <dcterms:modified xsi:type="dcterms:W3CDTF">2026-10-26T16:09:03Z</dcterms:modified>
</cp:coreProperties>
</file>